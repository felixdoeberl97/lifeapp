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77" r:id="rId9"/>
    <p:sldId id="261" r:id="rId10"/>
    <p:sldId id="262" r:id="rId11"/>
    <p:sldId id="266" r:id="rId12"/>
    <p:sldId id="270" r:id="rId13"/>
    <p:sldId id="263" r:id="rId14"/>
    <p:sldId id="267" r:id="rId15"/>
    <p:sldId id="271" r:id="rId16"/>
    <p:sldId id="264" r:id="rId17"/>
    <p:sldId id="268" r:id="rId18"/>
    <p:sldId id="272" r:id="rId19"/>
    <p:sldId id="265" r:id="rId20"/>
    <p:sldId id="269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6F2E0750-4399-4F5D-9A21-F7E8A8E6C235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90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Web Application Testing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ABAFA92-357E-4C20-9163-15C0FAE985BA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4953000" cy="381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AAAE183-96E3-4EAE-9A99-D2A4F54EC20E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55555"/>
                </a:solidFill>
              </a:defRPr>
            </a:pPr>
            <a:r>
              <a:rPr lang="de-DE" sz="1650" b="1" dirty="0">
                <a:solidFill>
                  <a:srgbClr val="555555"/>
                </a:solidFill>
              </a:rPr>
              <a:t>Von</a:t>
            </a:r>
            <a:endParaRPr sz="1650" b="1" dirty="0">
              <a:solidFill>
                <a:srgbClr val="555555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1242367-AA7F-4FC0-8A62-A88CF607BA3B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Andreas Bliem</a:t>
            </a:r>
          </a:p>
          <a:p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Felix Döberl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6D4232E-3E28-41C4-ACB6-5EEF3F27FF3B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</p:spTree>
    <p:extLst>
      <p:ext uri="{BB962C8B-B14F-4D97-AF65-F5344CB8AC3E}">
        <p14:creationId xmlns:p14="http://schemas.microsoft.com/office/powerpoint/2010/main" val="206306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EE952D95-17AF-438A-9B1C-4330B9DFD0AD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7088066-BB05-4FB3-BFE6-8441A6658D17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Koch-Assistenz: Zweck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A59D84-2DEE-409B-AB28-01A56751BD4E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 dirty="0">
                <a:solidFill>
                  <a:srgbClr val="555555"/>
                </a:solidFill>
              </a:rPr>
              <a:t>Die </a:t>
            </a:r>
            <a:r>
              <a:rPr sz="1500" b="0" dirty="0" err="1">
                <a:solidFill>
                  <a:srgbClr val="555555"/>
                </a:solidFill>
              </a:rPr>
              <a:t>Gerichte</a:t>
            </a:r>
            <a:r>
              <a:rPr sz="1500" b="0" dirty="0">
                <a:solidFill>
                  <a:srgbClr val="555555"/>
                </a:solidFill>
              </a:rPr>
              <a:t>-App </a:t>
            </a:r>
            <a:r>
              <a:rPr sz="1500" b="0" dirty="0" err="1">
                <a:solidFill>
                  <a:srgbClr val="555555"/>
                </a:solidFill>
              </a:rPr>
              <a:t>unterst</a:t>
            </a:r>
            <a:r>
              <a:rPr lang="de-DE" sz="1500" b="0" dirty="0">
                <a:solidFill>
                  <a:srgbClr val="555555"/>
                </a:solidFill>
              </a:rPr>
              <a:t>ü</a:t>
            </a:r>
            <a:r>
              <a:rPr sz="1500" b="0" dirty="0" err="1">
                <a:solidFill>
                  <a:srgbClr val="555555"/>
                </a:solidFill>
              </a:rPr>
              <a:t>tzt</a:t>
            </a:r>
            <a:r>
              <a:rPr sz="1500" b="0" dirty="0">
                <a:solidFill>
                  <a:srgbClr val="555555"/>
                </a:solidFill>
              </a:rPr>
              <a:t> die </a:t>
            </a:r>
            <a:r>
              <a:rPr sz="1500" b="0" dirty="0" err="1">
                <a:solidFill>
                  <a:srgbClr val="555555"/>
                </a:solidFill>
              </a:rPr>
              <a:t>Planung</a:t>
            </a:r>
            <a:r>
              <a:rPr sz="1500" b="0" dirty="0">
                <a:solidFill>
                  <a:srgbClr val="555555"/>
                </a:solidFill>
              </a:rPr>
              <a:t> und </a:t>
            </a:r>
            <a:r>
              <a:rPr sz="1500" b="0" dirty="0" err="1">
                <a:solidFill>
                  <a:srgbClr val="555555"/>
                </a:solidFill>
              </a:rPr>
              <a:t>Nachverfolgung</a:t>
            </a:r>
            <a:r>
              <a:rPr sz="1500" b="0" dirty="0">
                <a:solidFill>
                  <a:srgbClr val="555555"/>
                </a:solidFill>
              </a:rPr>
              <a:t> von Mahlzeiten.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0D5AC13-14B8-4EFA-BFC2-EE559CA4F430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74B224F-E87B-4AB1-85B7-EC26F2EDC64D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2074467-00F7-4D59-B4DC-53791722738E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73F6533-DA11-41B1-AB89-43766505A121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3562350" cy="295275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6FAFEA0-C7AB-4378-938D-015E9A8B9340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76200" cy="29527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88E6911-81D3-4501-B6A2-B871D48BE7D2}"/>
              </a:ext>
            </a:extLst>
          </p:cNvPr>
          <p:cNvSpPr>
            <a:spLocks noGrp="1"/>
          </p:cNvSpPr>
          <p:nvPr/>
        </p:nvSpPr>
        <p:spPr>
          <a:xfrm>
            <a:off x="628650" y="28956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Gerichte verwalten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6AFA6E-101A-44C4-8287-6F90DD84DEED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31051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 err="1">
                <a:solidFill>
                  <a:srgbClr val="555555"/>
                </a:solidFill>
              </a:rPr>
              <a:t>Nutzer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koennen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Gerichte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mit</a:t>
            </a:r>
            <a:r>
              <a:rPr sz="1350" b="0" dirty="0">
                <a:solidFill>
                  <a:srgbClr val="555555"/>
                </a:solidFill>
              </a:rPr>
              <a:t> Name, Dauer, </a:t>
            </a:r>
            <a:r>
              <a:rPr sz="1350" b="0" dirty="0" err="1">
                <a:solidFill>
                  <a:srgbClr val="555555"/>
                </a:solidFill>
              </a:rPr>
              <a:t>Schwierigkeit</a:t>
            </a:r>
            <a:r>
              <a:rPr sz="1350" b="0" dirty="0">
                <a:solidFill>
                  <a:srgbClr val="555555"/>
                </a:solidFill>
              </a:rPr>
              <a:t>, </a:t>
            </a:r>
            <a:r>
              <a:rPr sz="1350" b="0" dirty="0" err="1">
                <a:solidFill>
                  <a:srgbClr val="555555"/>
                </a:solidFill>
              </a:rPr>
              <a:t>Kategorie</a:t>
            </a:r>
            <a:r>
              <a:rPr sz="1350" b="0" dirty="0">
                <a:solidFill>
                  <a:srgbClr val="555555"/>
                </a:solidFill>
              </a:rPr>
              <a:t> und </a:t>
            </a:r>
            <a:r>
              <a:rPr sz="1350" b="0" dirty="0" err="1">
                <a:solidFill>
                  <a:srgbClr val="555555"/>
                </a:solidFill>
              </a:rPr>
              <a:t>Basiszutaten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erfassen</a:t>
            </a:r>
            <a:r>
              <a:rPr sz="1350" b="0" dirty="0">
                <a:solidFill>
                  <a:srgbClr val="555555"/>
                </a:solidFill>
              </a:rPr>
              <a:t>, </a:t>
            </a:r>
            <a:r>
              <a:rPr sz="1350" b="0" dirty="0" err="1">
                <a:solidFill>
                  <a:srgbClr val="555555"/>
                </a:solidFill>
              </a:rPr>
              <a:t>bearbeiten</a:t>
            </a:r>
            <a:r>
              <a:rPr sz="1350" b="0" dirty="0">
                <a:solidFill>
                  <a:srgbClr val="555555"/>
                </a:solidFill>
              </a:rPr>
              <a:t> und l</a:t>
            </a:r>
            <a:r>
              <a:rPr lang="de-DE" sz="1350" b="0" dirty="0">
                <a:solidFill>
                  <a:srgbClr val="555555"/>
                </a:solidFill>
              </a:rPr>
              <a:t>ös</a:t>
            </a:r>
            <a:r>
              <a:rPr sz="1350" b="0" dirty="0" err="1">
                <a:solidFill>
                  <a:srgbClr val="555555"/>
                </a:solidFill>
              </a:rPr>
              <a:t>chen</a:t>
            </a:r>
            <a:r>
              <a:rPr sz="135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9735544-5DB6-4B4E-8B4E-98BD8E9B8652}"/>
              </a:ext>
            </a:extLst>
          </p:cNvPr>
          <p:cNvSpPr>
            <a:spLocks noGrp="1"/>
          </p:cNvSpPr>
          <p:nvPr/>
        </p:nvSpPr>
        <p:spPr>
          <a:xfrm>
            <a:off x="4314825" y="2686050"/>
            <a:ext cx="3562350" cy="295275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AC6F367-3679-4531-B1C4-9C617952DBD4}"/>
              </a:ext>
            </a:extLst>
          </p:cNvPr>
          <p:cNvSpPr>
            <a:spLocks noGrp="1"/>
          </p:cNvSpPr>
          <p:nvPr/>
        </p:nvSpPr>
        <p:spPr>
          <a:xfrm>
            <a:off x="4314825" y="2686050"/>
            <a:ext cx="76200" cy="295275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51F389A-1C4C-4C94-804C-48E1F9D1A489}"/>
              </a:ext>
            </a:extLst>
          </p:cNvPr>
          <p:cNvSpPr>
            <a:spLocks noGrp="1"/>
          </p:cNvSpPr>
          <p:nvPr/>
        </p:nvSpPr>
        <p:spPr>
          <a:xfrm>
            <a:off x="4543425" y="28956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Planung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F022584-99BE-4797-AEF5-FB862B6DC5B4}"/>
              </a:ext>
            </a:extLst>
          </p:cNvPr>
          <p:cNvSpPr>
            <a:spLocks noGrp="1"/>
          </p:cNvSpPr>
          <p:nvPr/>
        </p:nvSpPr>
        <p:spPr>
          <a:xfrm>
            <a:off x="4543425" y="3371850"/>
            <a:ext cx="31051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 err="1">
                <a:solidFill>
                  <a:srgbClr val="555555"/>
                </a:solidFill>
              </a:rPr>
              <a:t>Wochenpl</a:t>
            </a:r>
            <a:r>
              <a:rPr lang="de-DE" sz="1350" b="0" dirty="0">
                <a:solidFill>
                  <a:srgbClr val="555555"/>
                </a:solidFill>
              </a:rPr>
              <a:t>ä</a:t>
            </a:r>
            <a:r>
              <a:rPr sz="1350" b="0" dirty="0">
                <a:solidFill>
                  <a:srgbClr val="555555"/>
                </a:solidFill>
              </a:rPr>
              <a:t>ne </a:t>
            </a:r>
            <a:r>
              <a:rPr sz="1350" b="0" dirty="0" err="1">
                <a:solidFill>
                  <a:srgbClr val="555555"/>
                </a:solidFill>
              </a:rPr>
              <a:t>bestehen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aus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sieben</a:t>
            </a:r>
            <a:r>
              <a:rPr sz="1350" b="0" dirty="0">
                <a:solidFill>
                  <a:srgbClr val="555555"/>
                </a:solidFill>
              </a:rPr>
              <a:t> Eintr</a:t>
            </a:r>
            <a:r>
              <a:rPr lang="de-DE" sz="1350" b="0" dirty="0">
                <a:solidFill>
                  <a:srgbClr val="555555"/>
                </a:solidFill>
              </a:rPr>
              <a:t>ä</a:t>
            </a:r>
            <a:r>
              <a:rPr sz="1350" b="0" dirty="0">
                <a:solidFill>
                  <a:srgbClr val="555555"/>
                </a:solidFill>
              </a:rPr>
              <a:t>gen ab </a:t>
            </a:r>
            <a:r>
              <a:rPr sz="1350" b="0" dirty="0" err="1">
                <a:solidFill>
                  <a:srgbClr val="555555"/>
                </a:solidFill>
              </a:rPr>
              <a:t>einem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Startdatum</a:t>
            </a:r>
            <a:r>
              <a:rPr sz="1350" b="0" dirty="0">
                <a:solidFill>
                  <a:srgbClr val="555555"/>
                </a:solidFill>
              </a:rPr>
              <a:t>. </a:t>
            </a:r>
            <a:r>
              <a:rPr sz="1350" b="0" dirty="0" err="1">
                <a:solidFill>
                  <a:srgbClr val="555555"/>
                </a:solidFill>
              </a:rPr>
              <a:t>Gerichte</a:t>
            </a:r>
            <a:r>
              <a:rPr sz="1350" b="0" dirty="0">
                <a:solidFill>
                  <a:srgbClr val="555555"/>
                </a:solidFill>
              </a:rPr>
              <a:t> k</a:t>
            </a:r>
            <a:r>
              <a:rPr lang="de-DE" sz="1350" b="0" dirty="0">
                <a:solidFill>
                  <a:srgbClr val="555555"/>
                </a:solidFill>
              </a:rPr>
              <a:t>ö</a:t>
            </a:r>
            <a:r>
              <a:rPr sz="1350" b="0" dirty="0" err="1">
                <a:solidFill>
                  <a:srgbClr val="555555"/>
                </a:solidFill>
              </a:rPr>
              <a:t>nnen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lang="de-DE" sz="1350" b="0" dirty="0">
                <a:solidFill>
                  <a:srgbClr val="555555"/>
                </a:solidFill>
              </a:rPr>
              <a:t>einem Tag </a:t>
            </a:r>
            <a:r>
              <a:rPr sz="1350" b="0" dirty="0" err="1">
                <a:solidFill>
                  <a:srgbClr val="555555"/>
                </a:solidFill>
              </a:rPr>
              <a:t>zugeordnet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werden</a:t>
            </a:r>
            <a:r>
              <a:rPr sz="135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60E1C33-5EBA-4C49-81F1-4AEB4EFB09C1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3562350" cy="295275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756E5B2-3881-49BE-A33B-94B7954E53B8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76200" cy="2952750"/>
          </a:xfrm>
          <a:prstGeom prst="rect">
            <a:avLst/>
          </a:prstGeom>
          <a:solidFill>
            <a:srgbClr val="1F7A4D"/>
          </a:solidFill>
          <a:ln w="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A4F06A5-076A-469B-BF9A-E48AAA41C677}"/>
              </a:ext>
            </a:extLst>
          </p:cNvPr>
          <p:cNvSpPr>
            <a:spLocks noGrp="1"/>
          </p:cNvSpPr>
          <p:nvPr/>
        </p:nvSpPr>
        <p:spPr>
          <a:xfrm>
            <a:off x="8458200" y="28956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Historie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7D3779D-CD59-445D-8F04-C2778E7B0D08}"/>
              </a:ext>
            </a:extLst>
          </p:cNvPr>
          <p:cNvSpPr>
            <a:spLocks noGrp="1"/>
          </p:cNvSpPr>
          <p:nvPr/>
        </p:nvSpPr>
        <p:spPr>
          <a:xfrm>
            <a:off x="8458200" y="3371850"/>
            <a:ext cx="31051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 err="1">
                <a:solidFill>
                  <a:srgbClr val="555555"/>
                </a:solidFill>
              </a:rPr>
              <a:t>Gekochte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Speisen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werden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protokolliert</a:t>
            </a:r>
            <a:r>
              <a:rPr sz="1350" b="0" dirty="0">
                <a:solidFill>
                  <a:srgbClr val="555555"/>
                </a:solidFill>
              </a:rPr>
              <a:t> und k</a:t>
            </a:r>
            <a:r>
              <a:rPr lang="de-DE" sz="1350" b="0" dirty="0">
                <a:solidFill>
                  <a:srgbClr val="555555"/>
                </a:solidFill>
              </a:rPr>
              <a:t>ö</a:t>
            </a:r>
            <a:r>
              <a:rPr sz="1350" b="0" dirty="0" err="1">
                <a:solidFill>
                  <a:srgbClr val="555555"/>
                </a:solidFill>
              </a:rPr>
              <a:t>nnen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nach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aktuellem</a:t>
            </a:r>
            <a:r>
              <a:rPr sz="1350" b="0" dirty="0">
                <a:solidFill>
                  <a:srgbClr val="555555"/>
                </a:solidFill>
              </a:rPr>
              <a:t> Datum, Monat </a:t>
            </a:r>
            <a:r>
              <a:rPr sz="1350" b="0" dirty="0" err="1">
                <a:solidFill>
                  <a:srgbClr val="555555"/>
                </a:solidFill>
              </a:rPr>
              <a:t>oder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als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aktuelle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Liste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angezeigt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werden</a:t>
            </a:r>
            <a:r>
              <a:rPr sz="1350" b="0" dirty="0">
                <a:solidFill>
                  <a:srgbClr val="55555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755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458A2BF-6073-4819-9BCF-B9CE7BA3A26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5AA89E7-A7B3-411A-9324-E079C5CCDC9E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Koch-Assistenz: Aufbau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CC44CA2-17F4-490A-A32B-BA5CB9D63A3F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Die Logik liegt vor allem in Frontend-Services und lokalen Speicherstrukturen.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70AA05C-F1B8-41B3-B6DD-67BB8CDA286E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ADEEF59-662D-4357-98B9-E8C5601EB889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E072B0-40CF-48E0-86DA-F142C66B7401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3F8DA66-FB9D-4DFC-80F2-B4A4201CB97B}"/>
              </a:ext>
            </a:extLst>
          </p:cNvPr>
          <p:cNvSpPr>
            <a:spLocks noGrp="1"/>
          </p:cNvSpPr>
          <p:nvPr/>
        </p:nvSpPr>
        <p:spPr>
          <a:xfrm>
            <a:off x="40005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Wichtige Komponenten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3A25C81-33C9-452D-A2F9-0B0E7B80FABC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DishesPage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DishForm und DishList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WeeklyMealPlan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CookingCalendar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RandomDishPicker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RecentCookingLogs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6C2F202-3751-4F42-8205-BCE2E58A930A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Services und Utils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D0A526C-0717-41BD-A106-413D23BFDC66}"/>
              </a:ext>
            </a:extLst>
          </p:cNvPr>
          <p:cNvSpPr>
            <a:spLocks noGrp="1"/>
          </p:cNvSpPr>
          <p:nvPr/>
        </p:nvSpPr>
        <p:spPr>
          <a:xfrm>
            <a:off x="628650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dishService</a:t>
            </a:r>
            <a:r>
              <a:rPr sz="1350" b="0" dirty="0">
                <a:solidFill>
                  <a:srgbClr val="555555"/>
                </a:solidFill>
              </a:rPr>
              <a:t> f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r CRUD und </a:t>
            </a:r>
            <a:r>
              <a:rPr sz="1350" b="0" dirty="0" err="1">
                <a:solidFill>
                  <a:srgbClr val="555555"/>
                </a:solidFill>
              </a:rPr>
              <a:t>Zufallsauswahl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mealPlanService</a:t>
            </a:r>
            <a:r>
              <a:rPr sz="1350" b="0" dirty="0">
                <a:solidFill>
                  <a:srgbClr val="555555"/>
                </a:solidFill>
              </a:rPr>
              <a:t> f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r </a:t>
            </a:r>
            <a:r>
              <a:rPr sz="1350" b="0" dirty="0" err="1">
                <a:solidFill>
                  <a:srgbClr val="555555"/>
                </a:solidFill>
              </a:rPr>
              <a:t>Wochenplaene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cookingLogService</a:t>
            </a:r>
            <a:r>
              <a:rPr sz="1350" b="0" dirty="0">
                <a:solidFill>
                  <a:srgbClr val="555555"/>
                </a:solidFill>
              </a:rPr>
              <a:t> f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r </a:t>
            </a:r>
            <a:r>
              <a:rPr sz="1350" b="0" dirty="0" err="1">
                <a:solidFill>
                  <a:srgbClr val="555555"/>
                </a:solidFill>
              </a:rPr>
              <a:t>Kochhistorie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validationUtils</a:t>
            </a:r>
            <a:r>
              <a:rPr sz="1350" b="0" dirty="0">
                <a:solidFill>
                  <a:srgbClr val="555555"/>
                </a:solidFill>
              </a:rPr>
              <a:t> f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r </a:t>
            </a:r>
            <a:r>
              <a:rPr sz="1350" b="0" dirty="0" err="1">
                <a:solidFill>
                  <a:srgbClr val="555555"/>
                </a:solidFill>
              </a:rPr>
              <a:t>Eingabepr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 err="1">
                <a:solidFill>
                  <a:srgbClr val="555555"/>
                </a:solidFill>
              </a:rPr>
              <a:t>fung</a:t>
            </a:r>
            <a:endParaRPr sz="13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2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3B0F40BF-D4A9-48D2-BBA3-02BF90DDCC8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 2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05DE287-2021-48BE-B525-5441FACDACAA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BudgetFlow: Zweck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EDF1689-DA30-48CB-8713-B01A669ADCCC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Die Budget-App bildet ein Haushaltsbudget mit Kategorien, Transaktionen und Dashboard ab.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ABCEF16-2BE5-4478-A205-42768C009BD9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DBD9EAA-67E9-409B-93FD-B5801CEB9F41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B7C167D-F0E4-423D-9CDC-552F6E7E42F8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C3C8705-F1D2-42F2-A800-72BCC1601154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3562350" cy="295275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9698B06-8086-499C-B2F5-B87272B60BF5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76200" cy="29527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FF382E4-B3E4-4C4D-A5DF-365C6E3C5DA7}"/>
              </a:ext>
            </a:extLst>
          </p:cNvPr>
          <p:cNvSpPr>
            <a:spLocks noGrp="1"/>
          </p:cNvSpPr>
          <p:nvPr/>
        </p:nvSpPr>
        <p:spPr>
          <a:xfrm>
            <a:off x="628650" y="28956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Budgets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A1E23BE-7400-434E-9ED9-CB690A118848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31051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 err="1">
                <a:solidFill>
                  <a:srgbClr val="555555"/>
                </a:solidFill>
              </a:rPr>
              <a:t>Monatsbudget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mit</a:t>
            </a:r>
            <a:r>
              <a:rPr sz="1350" b="0" dirty="0">
                <a:solidFill>
                  <a:srgbClr val="555555"/>
                </a:solidFill>
              </a:rPr>
              <a:t> Monat, Jahr und </a:t>
            </a:r>
            <a:r>
              <a:rPr sz="1350" b="0" dirty="0" err="1">
                <a:solidFill>
                  <a:srgbClr val="555555"/>
                </a:solidFill>
              </a:rPr>
              <a:t>Betrag</a:t>
            </a:r>
            <a:r>
              <a:rPr sz="1350" b="0" dirty="0">
                <a:solidFill>
                  <a:srgbClr val="555555"/>
                </a:solidFill>
              </a:rPr>
              <a:t>. </a:t>
            </a:r>
            <a:r>
              <a:rPr sz="1350" b="0" dirty="0" err="1">
                <a:solidFill>
                  <a:srgbClr val="555555"/>
                </a:solidFill>
              </a:rPr>
              <a:t>Eintraege</a:t>
            </a:r>
            <a:r>
              <a:rPr sz="1350" b="0" dirty="0">
                <a:solidFill>
                  <a:srgbClr val="555555"/>
                </a:solidFill>
              </a:rPr>
              <a:t> k</a:t>
            </a:r>
            <a:r>
              <a:rPr lang="de-DE" sz="1350" b="0" dirty="0">
                <a:solidFill>
                  <a:srgbClr val="555555"/>
                </a:solidFill>
              </a:rPr>
              <a:t>ö</a:t>
            </a:r>
            <a:r>
              <a:rPr sz="1350" b="0" dirty="0" err="1">
                <a:solidFill>
                  <a:srgbClr val="555555"/>
                </a:solidFill>
              </a:rPr>
              <a:t>nnen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erstellt</a:t>
            </a:r>
            <a:r>
              <a:rPr sz="1350" b="0" dirty="0">
                <a:solidFill>
                  <a:srgbClr val="555555"/>
                </a:solidFill>
              </a:rPr>
              <a:t>, g</a:t>
            </a:r>
            <a:r>
              <a:rPr lang="de-DE" sz="1350" b="0" dirty="0" err="1">
                <a:solidFill>
                  <a:srgbClr val="555555"/>
                </a:solidFill>
              </a:rPr>
              <a:t>eä</a:t>
            </a:r>
            <a:r>
              <a:rPr sz="1350" b="0" dirty="0" err="1">
                <a:solidFill>
                  <a:srgbClr val="555555"/>
                </a:solidFill>
              </a:rPr>
              <a:t>ndert</a:t>
            </a:r>
            <a:r>
              <a:rPr sz="1350" b="0" dirty="0">
                <a:solidFill>
                  <a:srgbClr val="555555"/>
                </a:solidFill>
              </a:rPr>
              <a:t> und gel</a:t>
            </a:r>
            <a:r>
              <a:rPr lang="de-DE" sz="1350" b="0" dirty="0">
                <a:solidFill>
                  <a:srgbClr val="555555"/>
                </a:solidFill>
              </a:rPr>
              <a:t>ö</a:t>
            </a:r>
            <a:r>
              <a:rPr sz="1350" b="0" dirty="0" err="1">
                <a:solidFill>
                  <a:srgbClr val="555555"/>
                </a:solidFill>
              </a:rPr>
              <a:t>scht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werden</a:t>
            </a:r>
            <a:r>
              <a:rPr sz="135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BBE35A9-C4CC-4117-9CF1-80097B81E19A}"/>
              </a:ext>
            </a:extLst>
          </p:cNvPr>
          <p:cNvSpPr>
            <a:spLocks noGrp="1"/>
          </p:cNvSpPr>
          <p:nvPr/>
        </p:nvSpPr>
        <p:spPr>
          <a:xfrm>
            <a:off x="4314825" y="2686050"/>
            <a:ext cx="3562350" cy="295275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DBD2B88-EA42-492C-A0A4-215682365EEC}"/>
              </a:ext>
            </a:extLst>
          </p:cNvPr>
          <p:cNvSpPr>
            <a:spLocks noGrp="1"/>
          </p:cNvSpPr>
          <p:nvPr/>
        </p:nvSpPr>
        <p:spPr>
          <a:xfrm>
            <a:off x="4314825" y="2686050"/>
            <a:ext cx="76200" cy="295275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E1C3AEB-C115-4866-9338-DB6C234E1E5C}"/>
              </a:ext>
            </a:extLst>
          </p:cNvPr>
          <p:cNvSpPr>
            <a:spLocks noGrp="1"/>
          </p:cNvSpPr>
          <p:nvPr/>
        </p:nvSpPr>
        <p:spPr>
          <a:xfrm>
            <a:off x="4543425" y="28956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Kategorien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03079B9-52AC-4329-9CAB-730F64362CD8}"/>
              </a:ext>
            </a:extLst>
          </p:cNvPr>
          <p:cNvSpPr>
            <a:spLocks noGrp="1"/>
          </p:cNvSpPr>
          <p:nvPr/>
        </p:nvSpPr>
        <p:spPr>
          <a:xfrm>
            <a:off x="4543425" y="3371850"/>
            <a:ext cx="31051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Kategorien unterscheiden Einnahmen und Ausgaben. Diese Typen werden bei Transaktionen validiert.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D3E78B0-E8B6-4AEF-88F9-AA374345A2F4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3562350" cy="295275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DAB836B-7797-4C3D-A089-E04692886C89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76200" cy="2952750"/>
          </a:xfrm>
          <a:prstGeom prst="rect">
            <a:avLst/>
          </a:prstGeom>
          <a:solidFill>
            <a:srgbClr val="1F7A4D"/>
          </a:solidFill>
          <a:ln w="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65D761A-A795-424F-A414-D1BB282CC1C3}"/>
              </a:ext>
            </a:extLst>
          </p:cNvPr>
          <p:cNvSpPr>
            <a:spLocks noGrp="1"/>
          </p:cNvSpPr>
          <p:nvPr/>
        </p:nvSpPr>
        <p:spPr>
          <a:xfrm>
            <a:off x="8458200" y="28956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Dashboard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5444608-2265-459F-9269-9546FE1C72F4}"/>
              </a:ext>
            </a:extLst>
          </p:cNvPr>
          <p:cNvSpPr>
            <a:spLocks noGrp="1"/>
          </p:cNvSpPr>
          <p:nvPr/>
        </p:nvSpPr>
        <p:spPr>
          <a:xfrm>
            <a:off x="8458200" y="3371850"/>
            <a:ext cx="31051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Das Dashboard </a:t>
            </a:r>
            <a:r>
              <a:rPr sz="1350" b="0" dirty="0" err="1">
                <a:solidFill>
                  <a:srgbClr val="555555"/>
                </a:solidFill>
              </a:rPr>
              <a:t>berechnet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Einnahmen</a:t>
            </a:r>
            <a:r>
              <a:rPr sz="1350" b="0" dirty="0">
                <a:solidFill>
                  <a:srgbClr val="555555"/>
                </a:solidFill>
              </a:rPr>
              <a:t>, </a:t>
            </a:r>
            <a:r>
              <a:rPr sz="1350" b="0" dirty="0" err="1">
                <a:solidFill>
                  <a:srgbClr val="555555"/>
                </a:solidFill>
              </a:rPr>
              <a:t>Ausgaben</a:t>
            </a:r>
            <a:r>
              <a:rPr sz="1350" b="0" dirty="0">
                <a:solidFill>
                  <a:srgbClr val="555555"/>
                </a:solidFill>
              </a:rPr>
              <a:t>, </a:t>
            </a:r>
            <a:r>
              <a:rPr sz="1350" b="0" dirty="0" err="1">
                <a:solidFill>
                  <a:srgbClr val="555555"/>
                </a:solidFill>
              </a:rPr>
              <a:t>Restbudget</a:t>
            </a:r>
            <a:r>
              <a:rPr sz="1350" b="0" dirty="0">
                <a:solidFill>
                  <a:srgbClr val="555555"/>
                </a:solidFill>
              </a:rPr>
              <a:t> und </a:t>
            </a:r>
            <a:r>
              <a:rPr sz="1350" b="0" dirty="0" err="1">
                <a:solidFill>
                  <a:srgbClr val="555555"/>
                </a:solidFill>
              </a:rPr>
              <a:t>Transaktionsanzahl</a:t>
            </a:r>
            <a:r>
              <a:rPr sz="1350" b="0" dirty="0">
                <a:solidFill>
                  <a:srgbClr val="555555"/>
                </a:solidFill>
              </a:rPr>
              <a:t> f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r den </a:t>
            </a:r>
            <a:r>
              <a:rPr sz="1350" b="0" dirty="0" err="1">
                <a:solidFill>
                  <a:srgbClr val="555555"/>
                </a:solidFill>
              </a:rPr>
              <a:t>gew</a:t>
            </a:r>
            <a:r>
              <a:rPr lang="de-DE" sz="1350" b="0" dirty="0">
                <a:solidFill>
                  <a:srgbClr val="555555"/>
                </a:solidFill>
              </a:rPr>
              <a:t>ä</a:t>
            </a:r>
            <a:r>
              <a:rPr sz="1350" b="0" dirty="0" err="1">
                <a:solidFill>
                  <a:srgbClr val="555555"/>
                </a:solidFill>
              </a:rPr>
              <a:t>hlten</a:t>
            </a:r>
            <a:r>
              <a:rPr sz="1350" b="0" dirty="0">
                <a:solidFill>
                  <a:srgbClr val="555555"/>
                </a:solidFill>
              </a:rPr>
              <a:t> Monat.</a:t>
            </a:r>
          </a:p>
        </p:txBody>
      </p:sp>
    </p:spTree>
    <p:extLst>
      <p:ext uri="{BB962C8B-B14F-4D97-AF65-F5344CB8AC3E}">
        <p14:creationId xmlns:p14="http://schemas.microsoft.com/office/powerpoint/2010/main" val="1082524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9A4D39DF-D1D8-4DFE-ACCF-DC607E63956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 2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E72BF56-336D-447E-99A5-E967A2317672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BudgetFlow: Aufbau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4A3D0C7-33A4-4C29-B8DA-3A2120E46AC8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 dirty="0" err="1">
                <a:solidFill>
                  <a:srgbClr val="555555"/>
                </a:solidFill>
              </a:rPr>
              <a:t>BudgetFlow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nutzt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ein</a:t>
            </a:r>
            <a:r>
              <a:rPr sz="1500" b="0" dirty="0">
                <a:solidFill>
                  <a:srgbClr val="555555"/>
                </a:solidFill>
              </a:rPr>
              <a:t> Express-Backend </a:t>
            </a:r>
            <a:r>
              <a:rPr sz="1500" b="0" dirty="0" err="1">
                <a:solidFill>
                  <a:srgbClr val="555555"/>
                </a:solidFill>
              </a:rPr>
              <a:t>mit</a:t>
            </a:r>
            <a:r>
              <a:rPr sz="1500" b="0" dirty="0">
                <a:solidFill>
                  <a:srgbClr val="555555"/>
                </a:solidFill>
              </a:rPr>
              <a:t> REST-</a:t>
            </a:r>
            <a:r>
              <a:rPr sz="1500" b="0" dirty="0" err="1">
                <a:solidFill>
                  <a:srgbClr val="555555"/>
                </a:solidFill>
              </a:rPr>
              <a:t>Endpunkten</a:t>
            </a:r>
            <a:r>
              <a:rPr sz="150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DD00047-BE86-42DA-8366-BCAF2256BFD8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A74CBA2-26A4-429E-A009-D785FCDCB68D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A8E04B5-5DBB-44BB-82B0-B45E303EB4B1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6545685-EA21-4DD7-99DF-50D40D5093A4}"/>
              </a:ext>
            </a:extLst>
          </p:cNvPr>
          <p:cNvSpPr>
            <a:spLocks noGrp="1"/>
          </p:cNvSpPr>
          <p:nvPr/>
        </p:nvSpPr>
        <p:spPr>
          <a:xfrm>
            <a:off x="40005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Frontend-Routen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3F5D4EC-81A7-4216-94A3-CF110D12A0DE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Login und Registrierung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Dashboard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Budgets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Categories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Transactions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EF14FE6-2E21-4C9C-B7CB-282102F9FFEC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Backend-Bausteine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9D81F5F-6D79-4402-B4EB-790B56BDFB95}"/>
              </a:ext>
            </a:extLst>
          </p:cNvPr>
          <p:cNvSpPr>
            <a:spLocks noGrp="1"/>
          </p:cNvSpPr>
          <p:nvPr/>
        </p:nvSpPr>
        <p:spPr>
          <a:xfrm>
            <a:off x="628650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Express API </a:t>
            </a:r>
            <a:r>
              <a:rPr sz="1350" b="0" dirty="0" err="1">
                <a:solidFill>
                  <a:srgbClr val="555555"/>
                </a:solidFill>
              </a:rPr>
              <a:t>unter</a:t>
            </a:r>
            <a:r>
              <a:rPr sz="1350" b="0" dirty="0">
                <a:solidFill>
                  <a:srgbClr val="555555"/>
                </a:solidFill>
              </a:rPr>
              <a:t> /</a:t>
            </a:r>
            <a:r>
              <a:rPr sz="1350" b="0" dirty="0" err="1">
                <a:solidFill>
                  <a:srgbClr val="555555"/>
                </a:solidFill>
              </a:rPr>
              <a:t>api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JWT-</a:t>
            </a:r>
            <a:r>
              <a:rPr sz="1350" b="0" dirty="0" err="1">
                <a:solidFill>
                  <a:srgbClr val="555555"/>
                </a:solidFill>
              </a:rPr>
              <a:t>Authentifizierung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SQLite-Datenbank </a:t>
            </a:r>
            <a:r>
              <a:rPr sz="1350" b="0" dirty="0" err="1">
                <a:solidFill>
                  <a:srgbClr val="555555"/>
                </a:solidFill>
              </a:rPr>
              <a:t>mit</a:t>
            </a:r>
            <a:r>
              <a:rPr sz="1350" b="0" dirty="0">
                <a:solidFill>
                  <a:srgbClr val="555555"/>
                </a:solidFill>
              </a:rPr>
              <a:t> Migration und Seed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Services und Repositories f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r </a:t>
            </a:r>
            <a:r>
              <a:rPr sz="1350" b="0" dirty="0" err="1">
                <a:solidFill>
                  <a:srgbClr val="555555"/>
                </a:solidFill>
              </a:rPr>
              <a:t>Budgetdaten</a:t>
            </a:r>
            <a:endParaRPr sz="13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858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DB0DA9D-F70B-0572-A8BD-BBC364212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4819"/>
            <a:ext cx="12192000" cy="326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2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C62F6F4-E0D9-D5B1-7A1D-FC438E84F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067"/>
            <a:ext cx="12192000" cy="403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25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953A640-D3FF-7BDB-474C-BC9000E7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512"/>
            <a:ext cx="12192000" cy="369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77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8904E70C-0D72-4874-98D6-A2A0DB4B749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TESTARTEN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C0E6609-C4AE-4BD1-B322-0CF999B57D8C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Vier Testarten im Projekt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65B3E06-D60E-4E8C-A08F-92BD3063D3EA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 dirty="0" err="1">
                <a:solidFill>
                  <a:srgbClr val="555555"/>
                </a:solidFill>
              </a:rPr>
              <a:t>Jede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Testart</a:t>
            </a:r>
            <a:r>
              <a:rPr sz="1500" b="0" dirty="0">
                <a:solidFill>
                  <a:srgbClr val="555555"/>
                </a:solidFill>
              </a:rPr>
              <a:t> pr</a:t>
            </a:r>
            <a:r>
              <a:rPr lang="de-DE" sz="1500" b="0" dirty="0">
                <a:solidFill>
                  <a:srgbClr val="555555"/>
                </a:solidFill>
              </a:rPr>
              <a:t>ü</a:t>
            </a:r>
            <a:r>
              <a:rPr sz="1500" b="0" dirty="0">
                <a:solidFill>
                  <a:srgbClr val="555555"/>
                </a:solidFill>
              </a:rPr>
              <a:t>ft </a:t>
            </a:r>
            <a:r>
              <a:rPr sz="1500" b="0" dirty="0" err="1">
                <a:solidFill>
                  <a:srgbClr val="555555"/>
                </a:solidFill>
              </a:rPr>
              <a:t>eine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andere</a:t>
            </a:r>
            <a:r>
              <a:rPr sz="1500" b="0" dirty="0">
                <a:solidFill>
                  <a:srgbClr val="555555"/>
                </a:solidFill>
              </a:rPr>
              <a:t> Ebene der </a:t>
            </a:r>
            <a:r>
              <a:rPr sz="1500" b="0" dirty="0" err="1">
                <a:solidFill>
                  <a:srgbClr val="555555"/>
                </a:solidFill>
              </a:rPr>
              <a:t>Anwendung</a:t>
            </a:r>
            <a:r>
              <a:rPr sz="150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D91BAA7-738A-49EC-914D-8CF62403654E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C2C0AAA-B427-44D8-8FBE-1A49EFD85923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9BE206C-27BC-442B-B6F1-B4B2A66C0FE8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D9D4151-43E8-44F3-B034-45443E86A40F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3562350" cy="295275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F37545F-E796-4E15-B6E6-D6FAA22AD7E5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76200" cy="29527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F57901C-8E7E-4467-AD2D-857AED1E0510}"/>
              </a:ext>
            </a:extLst>
          </p:cNvPr>
          <p:cNvSpPr>
            <a:spLocks noGrp="1"/>
          </p:cNvSpPr>
          <p:nvPr/>
        </p:nvSpPr>
        <p:spPr>
          <a:xfrm>
            <a:off x="628650" y="28956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Unit &amp; Integration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5EE935D-8D05-4721-BBC4-BFF13B0D5A09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31051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 err="1">
                <a:solidFill>
                  <a:srgbClr val="555555"/>
                </a:solidFill>
              </a:rPr>
              <a:t>Unittests</a:t>
            </a:r>
            <a:r>
              <a:rPr sz="1350" b="0" dirty="0">
                <a:solidFill>
                  <a:srgbClr val="555555"/>
                </a:solidFill>
              </a:rPr>
              <a:t> pr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fen </a:t>
            </a:r>
            <a:r>
              <a:rPr sz="1350" b="0" dirty="0" err="1">
                <a:solidFill>
                  <a:srgbClr val="555555"/>
                </a:solidFill>
              </a:rPr>
              <a:t>einzelne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Funktionen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isoliert</a:t>
            </a:r>
            <a:r>
              <a:rPr sz="1350" b="0" dirty="0">
                <a:solidFill>
                  <a:srgbClr val="555555"/>
                </a:solidFill>
              </a:rPr>
              <a:t>. </a:t>
            </a:r>
            <a:r>
              <a:rPr sz="1350" b="0" dirty="0" err="1">
                <a:solidFill>
                  <a:srgbClr val="555555"/>
                </a:solidFill>
              </a:rPr>
              <a:t>Integrationstests</a:t>
            </a:r>
            <a:r>
              <a:rPr sz="1350" b="0" dirty="0">
                <a:solidFill>
                  <a:srgbClr val="555555"/>
                </a:solidFill>
              </a:rPr>
              <a:t> pr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fen das </a:t>
            </a:r>
            <a:r>
              <a:rPr sz="1350" b="0" dirty="0" err="1">
                <a:solidFill>
                  <a:srgbClr val="555555"/>
                </a:solidFill>
              </a:rPr>
              <a:t>Zusammenspiel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mehrerer</a:t>
            </a:r>
            <a:r>
              <a:rPr sz="1350" b="0" dirty="0">
                <a:solidFill>
                  <a:srgbClr val="555555"/>
                </a:solidFill>
              </a:rPr>
              <a:t> Module, API-</a:t>
            </a:r>
            <a:r>
              <a:rPr sz="1350" b="0" dirty="0" err="1">
                <a:solidFill>
                  <a:srgbClr val="555555"/>
                </a:solidFill>
              </a:rPr>
              <a:t>Endpunkte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oder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Speicherzugriffe</a:t>
            </a:r>
            <a:r>
              <a:rPr sz="135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C8CD5D2-C9D2-4B0C-818B-81FD489092F5}"/>
              </a:ext>
            </a:extLst>
          </p:cNvPr>
          <p:cNvSpPr>
            <a:spLocks noGrp="1"/>
          </p:cNvSpPr>
          <p:nvPr/>
        </p:nvSpPr>
        <p:spPr>
          <a:xfrm>
            <a:off x="4314825" y="2686050"/>
            <a:ext cx="3562350" cy="295275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57262C-2474-4A80-B56C-6DE16E070AEB}"/>
              </a:ext>
            </a:extLst>
          </p:cNvPr>
          <p:cNvSpPr>
            <a:spLocks noGrp="1"/>
          </p:cNvSpPr>
          <p:nvPr/>
        </p:nvSpPr>
        <p:spPr>
          <a:xfrm>
            <a:off x="4314825" y="2686050"/>
            <a:ext cx="76200" cy="295275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8870DAC-39C9-42E7-B3A8-BDD08B886E16}"/>
              </a:ext>
            </a:extLst>
          </p:cNvPr>
          <p:cNvSpPr>
            <a:spLocks noGrp="1"/>
          </p:cNvSpPr>
          <p:nvPr/>
        </p:nvSpPr>
        <p:spPr>
          <a:xfrm>
            <a:off x="4543425" y="28956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E2E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9B71413-6B34-4F5B-BB3A-C84E3AF02DFB}"/>
              </a:ext>
            </a:extLst>
          </p:cNvPr>
          <p:cNvSpPr>
            <a:spLocks noGrp="1"/>
          </p:cNvSpPr>
          <p:nvPr/>
        </p:nvSpPr>
        <p:spPr>
          <a:xfrm>
            <a:off x="4543425" y="3371850"/>
            <a:ext cx="31051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End-to-End-Tests f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 err="1">
                <a:solidFill>
                  <a:srgbClr val="555555"/>
                </a:solidFill>
              </a:rPr>
              <a:t>hren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reale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Nutzerabl</a:t>
            </a:r>
            <a:r>
              <a:rPr lang="de-DE" sz="1350" b="0" dirty="0">
                <a:solidFill>
                  <a:srgbClr val="555555"/>
                </a:solidFill>
              </a:rPr>
              <a:t>ä</a:t>
            </a:r>
            <a:r>
              <a:rPr sz="1350" b="0" dirty="0" err="1">
                <a:solidFill>
                  <a:srgbClr val="555555"/>
                </a:solidFill>
              </a:rPr>
              <a:t>ufe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im</a:t>
            </a:r>
            <a:r>
              <a:rPr sz="1350" b="0" dirty="0">
                <a:solidFill>
                  <a:srgbClr val="555555"/>
                </a:solidFill>
              </a:rPr>
              <a:t> Browser </a:t>
            </a:r>
            <a:r>
              <a:rPr sz="1350" b="0" dirty="0" err="1">
                <a:solidFill>
                  <a:srgbClr val="555555"/>
                </a:solidFill>
              </a:rPr>
              <a:t>aus</a:t>
            </a:r>
            <a:r>
              <a:rPr sz="1350" b="0" dirty="0">
                <a:solidFill>
                  <a:srgbClr val="555555"/>
                </a:solidFill>
              </a:rPr>
              <a:t>, </a:t>
            </a:r>
            <a:r>
              <a:rPr sz="1350" b="0" dirty="0" err="1">
                <a:solidFill>
                  <a:srgbClr val="555555"/>
                </a:solidFill>
              </a:rPr>
              <a:t>zum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Beispiel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Registrierung</a:t>
            </a:r>
            <a:r>
              <a:rPr sz="1350" b="0" dirty="0">
                <a:solidFill>
                  <a:srgbClr val="555555"/>
                </a:solidFill>
              </a:rPr>
              <a:t>, Navigation, </a:t>
            </a:r>
            <a:r>
              <a:rPr sz="1350" b="0" dirty="0" err="1">
                <a:solidFill>
                  <a:srgbClr val="555555"/>
                </a:solidFill>
              </a:rPr>
              <a:t>Formularnutzung</a:t>
            </a:r>
            <a:r>
              <a:rPr sz="1350" b="0" dirty="0">
                <a:solidFill>
                  <a:srgbClr val="555555"/>
                </a:solidFill>
              </a:rPr>
              <a:t> und </a:t>
            </a:r>
            <a:r>
              <a:rPr sz="1350" b="0" dirty="0" err="1">
                <a:solidFill>
                  <a:srgbClr val="555555"/>
                </a:solidFill>
              </a:rPr>
              <a:t>sichtbare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Ergebnisse</a:t>
            </a:r>
            <a:r>
              <a:rPr sz="135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AB7D4D-8ED0-4170-BD53-BA5F0EC870BD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3562350" cy="295275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DAFFE61-ACE2-4F91-ABC4-312C7F907633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76200" cy="2952750"/>
          </a:xfrm>
          <a:prstGeom prst="rect">
            <a:avLst/>
          </a:prstGeom>
          <a:solidFill>
            <a:srgbClr val="1F7A4D"/>
          </a:solidFill>
          <a:ln w="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CF5ABEA-8CC1-418B-9E55-1548DEF0A0C3}"/>
              </a:ext>
            </a:extLst>
          </p:cNvPr>
          <p:cNvSpPr>
            <a:spLocks noGrp="1"/>
          </p:cNvSpPr>
          <p:nvPr/>
        </p:nvSpPr>
        <p:spPr>
          <a:xfrm>
            <a:off x="8458200" y="28956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Loadtest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EDBAAF8-B893-4C5C-9FEC-E9FC0FA45B71}"/>
              </a:ext>
            </a:extLst>
          </p:cNvPr>
          <p:cNvSpPr>
            <a:spLocks noGrp="1"/>
          </p:cNvSpPr>
          <p:nvPr/>
        </p:nvSpPr>
        <p:spPr>
          <a:xfrm>
            <a:off x="8458200" y="3371850"/>
            <a:ext cx="31051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 err="1">
                <a:solidFill>
                  <a:srgbClr val="555555"/>
                </a:solidFill>
              </a:rPr>
              <a:t>Loadtests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simulieren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parallele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Nutzer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oder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wiederholte</a:t>
            </a:r>
            <a:r>
              <a:rPr sz="1350" b="0" dirty="0">
                <a:solidFill>
                  <a:srgbClr val="555555"/>
                </a:solidFill>
              </a:rPr>
              <a:t> Requests und pr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fen </a:t>
            </a:r>
            <a:r>
              <a:rPr sz="1350" b="0" dirty="0" err="1">
                <a:solidFill>
                  <a:srgbClr val="555555"/>
                </a:solidFill>
              </a:rPr>
              <a:t>Antwortzeiten</a:t>
            </a:r>
            <a:r>
              <a:rPr sz="1350" b="0" dirty="0">
                <a:solidFill>
                  <a:srgbClr val="555555"/>
                </a:solidFill>
              </a:rPr>
              <a:t>, </a:t>
            </a:r>
            <a:r>
              <a:rPr sz="1350" b="0" dirty="0" err="1">
                <a:solidFill>
                  <a:srgbClr val="555555"/>
                </a:solidFill>
              </a:rPr>
              <a:t>Fehlerraten</a:t>
            </a:r>
            <a:r>
              <a:rPr sz="1350" b="0" dirty="0">
                <a:solidFill>
                  <a:srgbClr val="555555"/>
                </a:solidFill>
              </a:rPr>
              <a:t> und </a:t>
            </a:r>
            <a:r>
              <a:rPr sz="1350" b="0" dirty="0" err="1">
                <a:solidFill>
                  <a:srgbClr val="555555"/>
                </a:solidFill>
              </a:rPr>
              <a:t>Stabilit</a:t>
            </a:r>
            <a:r>
              <a:rPr lang="de-DE" sz="1350" b="0" dirty="0">
                <a:solidFill>
                  <a:srgbClr val="555555"/>
                </a:solidFill>
              </a:rPr>
              <a:t>ä</a:t>
            </a:r>
            <a:r>
              <a:rPr sz="1350" b="0" dirty="0">
                <a:solidFill>
                  <a:srgbClr val="555555"/>
                </a:solidFill>
              </a:rPr>
              <a:t>t </a:t>
            </a:r>
            <a:r>
              <a:rPr sz="1350" b="0" dirty="0" err="1">
                <a:solidFill>
                  <a:srgbClr val="555555"/>
                </a:solidFill>
              </a:rPr>
              <a:t>unter</a:t>
            </a:r>
            <a:r>
              <a:rPr sz="1350" b="0" dirty="0">
                <a:solidFill>
                  <a:srgbClr val="555555"/>
                </a:solidFill>
              </a:rPr>
              <a:t> Last.</a:t>
            </a:r>
          </a:p>
        </p:txBody>
      </p:sp>
    </p:spTree>
    <p:extLst>
      <p:ext uri="{BB962C8B-B14F-4D97-AF65-F5344CB8AC3E}">
        <p14:creationId xmlns:p14="http://schemas.microsoft.com/office/powerpoint/2010/main" val="7355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A61784EF-44C9-4ACD-80AF-F0DBD0C2487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TESTS GERICHTE-APP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BBE89C-5BB8-494B-A8E6-F94BB1C2F037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 dirty="0" err="1">
                <a:solidFill>
                  <a:srgbClr val="111111"/>
                </a:solidFill>
              </a:rPr>
              <a:t>Unitests</a:t>
            </a:r>
            <a:endParaRPr sz="3150" b="1" dirty="0">
              <a:solidFill>
                <a:srgbClr val="111111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42E435-E9D9-4DB2-8352-3E7AA2CC5F84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 dirty="0">
                <a:solidFill>
                  <a:srgbClr val="555555"/>
                </a:solidFill>
              </a:rPr>
              <a:t>Die </a:t>
            </a:r>
            <a:r>
              <a:rPr sz="1500" b="0" dirty="0" err="1">
                <a:solidFill>
                  <a:srgbClr val="555555"/>
                </a:solidFill>
              </a:rPr>
              <a:t>Unittests</a:t>
            </a:r>
            <a:r>
              <a:rPr sz="1500" b="0" dirty="0">
                <a:solidFill>
                  <a:srgbClr val="555555"/>
                </a:solidFill>
              </a:rPr>
              <a:t> pr</a:t>
            </a:r>
            <a:r>
              <a:rPr lang="de-DE" sz="1500" b="0" dirty="0">
                <a:solidFill>
                  <a:srgbClr val="555555"/>
                </a:solidFill>
              </a:rPr>
              <a:t>ü</a:t>
            </a:r>
            <a:r>
              <a:rPr sz="1500" b="0" dirty="0">
                <a:solidFill>
                  <a:srgbClr val="555555"/>
                </a:solidFill>
              </a:rPr>
              <a:t>fen </a:t>
            </a:r>
            <a:r>
              <a:rPr sz="1500" b="0" dirty="0" err="1">
                <a:solidFill>
                  <a:srgbClr val="555555"/>
                </a:solidFill>
              </a:rPr>
              <a:t>einzelne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Hilfs</a:t>
            </a:r>
            <a:r>
              <a:rPr sz="1500" b="0" dirty="0">
                <a:solidFill>
                  <a:srgbClr val="555555"/>
                </a:solidFill>
              </a:rPr>
              <a:t>- und </a:t>
            </a:r>
            <a:r>
              <a:rPr sz="1500" b="0" dirty="0" err="1">
                <a:solidFill>
                  <a:srgbClr val="555555"/>
                </a:solidFill>
              </a:rPr>
              <a:t>Servicefunktionen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ohne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echte</a:t>
            </a:r>
            <a:r>
              <a:rPr sz="1500" b="0" dirty="0">
                <a:solidFill>
                  <a:srgbClr val="555555"/>
                </a:solidFill>
              </a:rPr>
              <a:t> UI.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40A9EC3-3BCF-4C15-AB30-4D81EFD302DD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B69A20B-D743-4AF4-840B-ED9309960BE5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4DC91C5-E530-4642-AC3C-70E31E6F1AE8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7EE925B-7C11-4206-9DBF-EDC0BDA8ED2F}"/>
              </a:ext>
            </a:extLst>
          </p:cNvPr>
          <p:cNvSpPr>
            <a:spLocks noGrp="1"/>
          </p:cNvSpPr>
          <p:nvPr/>
        </p:nvSpPr>
        <p:spPr>
          <a:xfrm>
            <a:off x="40005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 dirty="0" err="1">
                <a:solidFill>
                  <a:srgbClr val="111111"/>
                </a:solidFill>
              </a:rPr>
              <a:t>Gepr</a:t>
            </a:r>
            <a:r>
              <a:rPr lang="de-DE" sz="1950" b="1" dirty="0">
                <a:solidFill>
                  <a:srgbClr val="111111"/>
                </a:solidFill>
              </a:rPr>
              <a:t>ü</a:t>
            </a:r>
            <a:r>
              <a:rPr sz="1950" b="1" dirty="0" err="1">
                <a:solidFill>
                  <a:srgbClr val="111111"/>
                </a:solidFill>
              </a:rPr>
              <a:t>fte</a:t>
            </a:r>
            <a:r>
              <a:rPr sz="1950" b="1" dirty="0">
                <a:solidFill>
                  <a:srgbClr val="111111"/>
                </a:solidFill>
              </a:rPr>
              <a:t> </a:t>
            </a:r>
            <a:r>
              <a:rPr sz="1950" b="1" dirty="0" err="1">
                <a:solidFill>
                  <a:srgbClr val="111111"/>
                </a:solidFill>
              </a:rPr>
              <a:t>Faelle</a:t>
            </a:r>
            <a:endParaRPr sz="1950" b="1" dirty="0">
              <a:solidFill>
                <a:srgbClr val="11111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6986AD5-5A1C-4D56-910A-1C05CD70883A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Zutaten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werden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getrimmt</a:t>
            </a:r>
            <a:r>
              <a:rPr sz="1350" b="0" dirty="0">
                <a:solidFill>
                  <a:srgbClr val="555555"/>
                </a:solidFill>
              </a:rPr>
              <a:t> und </a:t>
            </a:r>
            <a:r>
              <a:rPr sz="1350" b="0" dirty="0" err="1">
                <a:solidFill>
                  <a:srgbClr val="555555"/>
                </a:solidFill>
              </a:rPr>
              <a:t>leere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Werte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entfernt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G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 err="1">
                <a:solidFill>
                  <a:srgbClr val="555555"/>
                </a:solidFill>
              </a:rPr>
              <a:t>ltige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Gerichte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werden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akzeptiert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Ung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 err="1">
                <a:solidFill>
                  <a:srgbClr val="555555"/>
                </a:solidFill>
              </a:rPr>
              <a:t>ltige</a:t>
            </a:r>
            <a:r>
              <a:rPr sz="1350" b="0" dirty="0">
                <a:solidFill>
                  <a:srgbClr val="555555"/>
                </a:solidFill>
              </a:rPr>
              <a:t> Dauer, </a:t>
            </a:r>
            <a:r>
              <a:rPr sz="1350" b="0" dirty="0" err="1">
                <a:solidFill>
                  <a:srgbClr val="555555"/>
                </a:solidFill>
              </a:rPr>
              <a:t>Schwierigkeit</a:t>
            </a:r>
            <a:r>
              <a:rPr sz="1350" b="0" dirty="0">
                <a:solidFill>
                  <a:srgbClr val="555555"/>
                </a:solidFill>
              </a:rPr>
              <a:t> und </a:t>
            </a:r>
            <a:r>
              <a:rPr sz="1350" b="0" dirty="0" err="1">
                <a:solidFill>
                  <a:srgbClr val="555555"/>
                </a:solidFill>
              </a:rPr>
              <a:t>Kategorie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werden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abgelehnt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Gerichte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werden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bereinigt</a:t>
            </a:r>
            <a:r>
              <a:rPr sz="1350" b="0" dirty="0">
                <a:solidFill>
                  <a:srgbClr val="555555"/>
                </a:solidFill>
              </a:rPr>
              <a:t>, </a:t>
            </a:r>
            <a:r>
              <a:rPr sz="1350" b="0" dirty="0" err="1">
                <a:solidFill>
                  <a:srgbClr val="555555"/>
                </a:solidFill>
              </a:rPr>
              <a:t>erstellt</a:t>
            </a:r>
            <a:r>
              <a:rPr sz="1350" b="0" dirty="0">
                <a:solidFill>
                  <a:srgbClr val="555555"/>
                </a:solidFill>
              </a:rPr>
              <a:t> und </a:t>
            </a:r>
            <a:r>
              <a:rPr sz="1350" b="0" dirty="0" err="1">
                <a:solidFill>
                  <a:srgbClr val="555555"/>
                </a:solidFill>
              </a:rPr>
              <a:t>gespeichert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E0B998F-EE62-4AAB-B79D-C19A25D58D88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Weitere Abdeckung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DFACED3-F70C-4372-A37B-C8B2A0210172}"/>
              </a:ext>
            </a:extLst>
          </p:cNvPr>
          <p:cNvSpPr>
            <a:spLocks noGrp="1"/>
          </p:cNvSpPr>
          <p:nvPr/>
        </p:nvSpPr>
        <p:spPr>
          <a:xfrm>
            <a:off x="628650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Update </a:t>
            </a:r>
            <a:r>
              <a:rPr sz="1350" b="0" dirty="0" err="1">
                <a:solidFill>
                  <a:srgbClr val="555555"/>
                </a:solidFill>
              </a:rPr>
              <a:t>beh</a:t>
            </a:r>
            <a:r>
              <a:rPr lang="de-DE" sz="1350" b="0" dirty="0">
                <a:solidFill>
                  <a:srgbClr val="555555"/>
                </a:solidFill>
              </a:rPr>
              <a:t>ä</a:t>
            </a:r>
            <a:r>
              <a:rPr sz="1350" b="0" dirty="0" err="1">
                <a:solidFill>
                  <a:srgbClr val="555555"/>
                </a:solidFill>
              </a:rPr>
              <a:t>lt</a:t>
            </a:r>
            <a:r>
              <a:rPr sz="1350" b="0" dirty="0">
                <a:solidFill>
                  <a:srgbClr val="555555"/>
                </a:solidFill>
              </a:rPr>
              <a:t> die </a:t>
            </a:r>
            <a:r>
              <a:rPr sz="1350" b="0" dirty="0" err="1">
                <a:solidFill>
                  <a:srgbClr val="555555"/>
                </a:solidFill>
              </a:rPr>
              <a:t>bestehende</a:t>
            </a:r>
            <a:r>
              <a:rPr sz="1350" b="0" dirty="0">
                <a:solidFill>
                  <a:srgbClr val="555555"/>
                </a:solidFill>
              </a:rPr>
              <a:t> ID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Zufallsgericht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liefert</a:t>
            </a:r>
            <a:r>
              <a:rPr sz="1350" b="0" dirty="0">
                <a:solidFill>
                  <a:srgbClr val="555555"/>
                </a:solidFill>
              </a:rPr>
              <a:t> null </a:t>
            </a:r>
            <a:r>
              <a:rPr sz="1350" b="0" dirty="0" err="1">
                <a:solidFill>
                  <a:srgbClr val="555555"/>
                </a:solidFill>
              </a:rPr>
              <a:t>bei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leerer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Liste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Leerer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Wochenplan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erzeugt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sieben</a:t>
            </a:r>
            <a:r>
              <a:rPr sz="1350" b="0" dirty="0">
                <a:solidFill>
                  <a:srgbClr val="555555"/>
                </a:solidFill>
              </a:rPr>
              <a:t> Eintr</a:t>
            </a:r>
            <a:r>
              <a:rPr lang="de-DE" sz="1350" b="0" dirty="0">
                <a:solidFill>
                  <a:srgbClr val="555555"/>
                </a:solidFill>
              </a:rPr>
              <a:t>ä</a:t>
            </a:r>
            <a:r>
              <a:rPr sz="1350" b="0" dirty="0" err="1">
                <a:solidFill>
                  <a:srgbClr val="555555"/>
                </a:solidFill>
              </a:rPr>
              <a:t>ge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LocalStorage</a:t>
            </a:r>
            <a:r>
              <a:rPr sz="1350" b="0" dirty="0">
                <a:solidFill>
                  <a:srgbClr val="555555"/>
                </a:solidFill>
              </a:rPr>
              <a:t> und UUID </a:t>
            </a:r>
            <a:r>
              <a:rPr sz="1350" b="0" dirty="0" err="1">
                <a:solidFill>
                  <a:srgbClr val="555555"/>
                </a:solidFill>
              </a:rPr>
              <a:t>werden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im</a:t>
            </a:r>
            <a:r>
              <a:rPr sz="1350" b="0" dirty="0">
                <a:solidFill>
                  <a:srgbClr val="555555"/>
                </a:solidFill>
              </a:rPr>
              <a:t> Test </a:t>
            </a:r>
            <a:r>
              <a:rPr sz="1350" b="0" dirty="0" err="1">
                <a:solidFill>
                  <a:srgbClr val="555555"/>
                </a:solidFill>
              </a:rPr>
              <a:t>gemockt</a:t>
            </a:r>
            <a:endParaRPr sz="13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12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4AC1D3FE-035E-4982-829D-3CC7F1925624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TESTS BUDGET-APP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C712FB9-43A4-4552-9E6A-A49D211D0276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 dirty="0" err="1">
                <a:solidFill>
                  <a:srgbClr val="111111"/>
                </a:solidFill>
              </a:rPr>
              <a:t>Unitests</a:t>
            </a:r>
            <a:endParaRPr sz="3150" b="1" dirty="0">
              <a:solidFill>
                <a:srgbClr val="111111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46DB1FB-4409-4923-B042-FA9DCF0139C5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Die Unittests decken Validierung und Dashboard-Berechnung ab.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3E8718C-E11E-4352-A7FF-71F4BA4BD39C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D61D0C4-53AF-4F11-AC61-336889C2B0AA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F687B1-10EA-423D-90D5-11B55518F8CF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51FEC6-85FF-4A60-9777-6F4662FF4B3D}"/>
              </a:ext>
            </a:extLst>
          </p:cNvPr>
          <p:cNvSpPr>
            <a:spLocks noGrp="1"/>
          </p:cNvSpPr>
          <p:nvPr/>
        </p:nvSpPr>
        <p:spPr>
          <a:xfrm>
            <a:off x="40005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Validierung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F15E3EF-1DC1-4947-AD81-928E3797B52C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Budget </a:t>
            </a:r>
            <a:r>
              <a:rPr sz="1350" b="0" dirty="0" err="1">
                <a:solidFill>
                  <a:srgbClr val="555555"/>
                </a:solidFill>
              </a:rPr>
              <a:t>mit</a:t>
            </a:r>
            <a:r>
              <a:rPr sz="1350" b="0" dirty="0">
                <a:solidFill>
                  <a:srgbClr val="555555"/>
                </a:solidFill>
              </a:rPr>
              <a:t> g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 err="1">
                <a:solidFill>
                  <a:srgbClr val="555555"/>
                </a:solidFill>
              </a:rPr>
              <a:t>ltigem</a:t>
            </a:r>
            <a:r>
              <a:rPr sz="1350" b="0" dirty="0">
                <a:solidFill>
                  <a:srgbClr val="555555"/>
                </a:solidFill>
              </a:rPr>
              <a:t> Monat, Jahr und </a:t>
            </a:r>
            <a:r>
              <a:rPr sz="1350" b="0" dirty="0" err="1">
                <a:solidFill>
                  <a:srgbClr val="555555"/>
                </a:solidFill>
              </a:rPr>
              <a:t>Betrag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Nicht </a:t>
            </a:r>
            <a:r>
              <a:rPr sz="1350" b="0" dirty="0" err="1">
                <a:solidFill>
                  <a:srgbClr val="555555"/>
                </a:solidFill>
              </a:rPr>
              <a:t>numerischer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Betrag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wird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abgelehnt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Kategoriename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wird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getrimmt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Transaktion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ohne</a:t>
            </a:r>
            <a:r>
              <a:rPr sz="1350" b="0" dirty="0">
                <a:solidFill>
                  <a:srgbClr val="555555"/>
                </a:solidFill>
              </a:rPr>
              <a:t> Datum </a:t>
            </a:r>
            <a:r>
              <a:rPr sz="1350" b="0" dirty="0" err="1">
                <a:solidFill>
                  <a:srgbClr val="555555"/>
                </a:solidFill>
              </a:rPr>
              <a:t>wird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abgelehnt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A1933AF-3544-44F4-8CCC-248413A5376F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Berechnung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5E9F75-B2D2-45FF-8532-DE8B1F63F985}"/>
              </a:ext>
            </a:extLst>
          </p:cNvPr>
          <p:cNvSpPr>
            <a:spLocks noGrp="1"/>
          </p:cNvSpPr>
          <p:nvPr/>
        </p:nvSpPr>
        <p:spPr>
          <a:xfrm>
            <a:off x="628650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G</a:t>
            </a:r>
            <a:r>
              <a:rPr lang="de-DE" sz="1350" b="0" dirty="0" err="1">
                <a:solidFill>
                  <a:srgbClr val="555555"/>
                </a:solidFill>
              </a:rPr>
              <a:t>ül</a:t>
            </a:r>
            <a:r>
              <a:rPr sz="1350" b="0" dirty="0">
                <a:solidFill>
                  <a:srgbClr val="555555"/>
                </a:solidFill>
              </a:rPr>
              <a:t>tige </a:t>
            </a:r>
            <a:r>
              <a:rPr sz="1350" b="0" dirty="0" err="1">
                <a:solidFill>
                  <a:srgbClr val="555555"/>
                </a:solidFill>
              </a:rPr>
              <a:t>Einnahmen-Transaktion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wird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akzeptiert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Restbudget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verarbeitet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numerische</a:t>
            </a:r>
            <a:r>
              <a:rPr sz="1350" b="0" dirty="0">
                <a:solidFill>
                  <a:srgbClr val="555555"/>
                </a:solidFill>
              </a:rPr>
              <a:t> Strings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Gruppierung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ignoriert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andere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Transaktionstypen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Servicefunktionen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bleiben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ohne</a:t>
            </a:r>
            <a:r>
              <a:rPr sz="1350" b="0" dirty="0">
                <a:solidFill>
                  <a:srgbClr val="555555"/>
                </a:solidFill>
              </a:rPr>
              <a:t> API </a:t>
            </a:r>
            <a:r>
              <a:rPr sz="1350" b="0" dirty="0" err="1">
                <a:solidFill>
                  <a:srgbClr val="555555"/>
                </a:solidFill>
              </a:rPr>
              <a:t>isoliert</a:t>
            </a:r>
            <a:r>
              <a:rPr sz="1350" b="0" dirty="0">
                <a:solidFill>
                  <a:srgbClr val="555555"/>
                </a:solidFill>
              </a:rPr>
              <a:t> pr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 err="1">
                <a:solidFill>
                  <a:srgbClr val="555555"/>
                </a:solidFill>
              </a:rPr>
              <a:t>fbar</a:t>
            </a:r>
            <a:endParaRPr sz="13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134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3A9A091-4432-A898-29E6-FF17FEF82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56" y="1133856"/>
            <a:ext cx="11676887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04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DA3E9EF-7DCF-4454-A853-12C0B7B520BD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TESTS GERICHTE-APP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67E7E26-FFC9-400F-BB37-0C0BD1B3B256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Integrationstests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C4A9207-03A7-4A54-97F7-6BBBAA5D1160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 dirty="0">
                <a:solidFill>
                  <a:srgbClr val="555555"/>
                </a:solidFill>
              </a:rPr>
              <a:t>Die </a:t>
            </a:r>
            <a:r>
              <a:rPr sz="1500" b="0" dirty="0" err="1">
                <a:solidFill>
                  <a:srgbClr val="555555"/>
                </a:solidFill>
              </a:rPr>
              <a:t>Integrationstests</a:t>
            </a:r>
            <a:r>
              <a:rPr sz="1500" b="0" dirty="0">
                <a:solidFill>
                  <a:srgbClr val="555555"/>
                </a:solidFill>
              </a:rPr>
              <a:t> pr</a:t>
            </a:r>
            <a:r>
              <a:rPr lang="de-DE" sz="1500" b="0" dirty="0">
                <a:solidFill>
                  <a:srgbClr val="555555"/>
                </a:solidFill>
              </a:rPr>
              <a:t>ü</a:t>
            </a:r>
            <a:r>
              <a:rPr sz="1500" b="0" dirty="0">
                <a:solidFill>
                  <a:srgbClr val="555555"/>
                </a:solidFill>
              </a:rPr>
              <a:t>fen </a:t>
            </a:r>
            <a:r>
              <a:rPr sz="1500" b="0" dirty="0" err="1">
                <a:solidFill>
                  <a:srgbClr val="555555"/>
                </a:solidFill>
              </a:rPr>
              <a:t>Serviceketten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mit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persistierten</a:t>
            </a:r>
            <a:r>
              <a:rPr sz="1500" b="0" dirty="0">
                <a:solidFill>
                  <a:srgbClr val="555555"/>
                </a:solidFill>
              </a:rPr>
              <a:t> Local-Storage-</a:t>
            </a:r>
            <a:r>
              <a:rPr sz="1500" b="0" dirty="0" err="1">
                <a:solidFill>
                  <a:srgbClr val="555555"/>
                </a:solidFill>
              </a:rPr>
              <a:t>Daten</a:t>
            </a:r>
            <a:r>
              <a:rPr sz="150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92E3726-E3AE-454A-8FBF-BCEFB07E6606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447EDDC-B54B-4581-9A50-14106995B1CA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A35E73A-0153-4F0F-AF74-99FF2DF2D2C7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34E4265-963C-4CF1-B4E4-59F71CF15CB5}"/>
              </a:ext>
            </a:extLst>
          </p:cNvPr>
          <p:cNvSpPr>
            <a:spLocks noGrp="1"/>
          </p:cNvSpPr>
          <p:nvPr/>
        </p:nvSpPr>
        <p:spPr>
          <a:xfrm>
            <a:off x="40005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Persistenz und CRUD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B03057B-5156-4475-BE30-6E116AC4C48A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CreateDishAndGetDishById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UpdateDish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persistiert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lang="de-DE" sz="1350" dirty="0">
                <a:solidFill>
                  <a:srgbClr val="555555"/>
                </a:solidFill>
              </a:rPr>
              <a:t>Ä</a:t>
            </a:r>
            <a:r>
              <a:rPr sz="1350" b="0" dirty="0" err="1">
                <a:solidFill>
                  <a:srgbClr val="555555"/>
                </a:solidFill>
              </a:rPr>
              <a:t>nderungen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DeleteDish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entfernt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nur</a:t>
            </a:r>
            <a:r>
              <a:rPr sz="1350" b="0" dirty="0">
                <a:solidFill>
                  <a:srgbClr val="555555"/>
                </a:solidFill>
              </a:rPr>
              <a:t> das </a:t>
            </a:r>
            <a:r>
              <a:rPr sz="1350" b="0" dirty="0" err="1">
                <a:solidFill>
                  <a:srgbClr val="555555"/>
                </a:solidFill>
              </a:rPr>
              <a:t>Zielgericht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3187842-1DC6-44AC-B33A-FCE19BD302CA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Planung und Historie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B7AC865-1C95-4CA3-AB42-2C72AC710308}"/>
              </a:ext>
            </a:extLst>
          </p:cNvPr>
          <p:cNvSpPr>
            <a:spLocks noGrp="1"/>
          </p:cNvSpPr>
          <p:nvPr/>
        </p:nvSpPr>
        <p:spPr>
          <a:xfrm>
            <a:off x="628650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SaveMealPlanAndGetMealPlanByWeekStartDate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CreateCookingLog in Recent-, Date- und Month-Abfragen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Mehrere Services arbeiten auf konsistenten gespeicherten Daten</a:t>
            </a:r>
          </a:p>
        </p:txBody>
      </p:sp>
    </p:spTree>
    <p:extLst>
      <p:ext uri="{BB962C8B-B14F-4D97-AF65-F5344CB8AC3E}">
        <p14:creationId xmlns:p14="http://schemas.microsoft.com/office/powerpoint/2010/main" val="597817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1D898B0B-40FE-424D-952A-86972D99909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TESTS BUDGET-APP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3E6CDA-FBFD-492F-889A-AAC77FC5EDDF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Integrationstests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3BCF444-4F37-4377-BACD-9C39D09583E9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 dirty="0">
                <a:solidFill>
                  <a:srgbClr val="555555"/>
                </a:solidFill>
              </a:rPr>
              <a:t>Die </a:t>
            </a:r>
            <a:r>
              <a:rPr sz="1500" b="0" dirty="0" err="1">
                <a:solidFill>
                  <a:srgbClr val="555555"/>
                </a:solidFill>
              </a:rPr>
              <a:t>Integrationstests</a:t>
            </a:r>
            <a:r>
              <a:rPr sz="1500" b="0" dirty="0">
                <a:solidFill>
                  <a:srgbClr val="555555"/>
                </a:solidFill>
              </a:rPr>
              <a:t> pr</a:t>
            </a:r>
            <a:r>
              <a:rPr lang="de-DE" sz="1500" b="0" dirty="0">
                <a:solidFill>
                  <a:srgbClr val="555555"/>
                </a:solidFill>
              </a:rPr>
              <a:t>ü</a:t>
            </a:r>
            <a:r>
              <a:rPr sz="1500" b="0" dirty="0">
                <a:solidFill>
                  <a:srgbClr val="555555"/>
                </a:solidFill>
              </a:rPr>
              <a:t>fen </a:t>
            </a:r>
            <a:r>
              <a:rPr sz="1500" b="0" dirty="0" err="1">
                <a:solidFill>
                  <a:srgbClr val="555555"/>
                </a:solidFill>
              </a:rPr>
              <a:t>echte</a:t>
            </a:r>
            <a:r>
              <a:rPr sz="1500" b="0" dirty="0">
                <a:solidFill>
                  <a:srgbClr val="555555"/>
                </a:solidFill>
              </a:rPr>
              <a:t> API-</a:t>
            </a:r>
            <a:r>
              <a:rPr sz="1500" b="0" dirty="0" err="1">
                <a:solidFill>
                  <a:srgbClr val="555555"/>
                </a:solidFill>
              </a:rPr>
              <a:t>Endpunkte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mit</a:t>
            </a:r>
            <a:r>
              <a:rPr sz="1500" b="0" dirty="0">
                <a:solidFill>
                  <a:srgbClr val="555555"/>
                </a:solidFill>
              </a:rPr>
              <a:t> In-Memory-</a:t>
            </a:r>
            <a:r>
              <a:rPr sz="1500" b="0" dirty="0" err="1">
                <a:solidFill>
                  <a:srgbClr val="555555"/>
                </a:solidFill>
              </a:rPr>
              <a:t>Datenbank</a:t>
            </a:r>
            <a:r>
              <a:rPr sz="150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74FFF14-D82C-4F56-ABC4-0869A3DF7FAF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37D59F8-06BD-4352-AFAF-D63B57004003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E994C5F-80A7-4631-A744-8AF17534993C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8B4C225-A820-4C8E-868C-B37D4B1A5E81}"/>
              </a:ext>
            </a:extLst>
          </p:cNvPr>
          <p:cNvSpPr>
            <a:spLocks noGrp="1"/>
          </p:cNvSpPr>
          <p:nvPr/>
        </p:nvSpPr>
        <p:spPr>
          <a:xfrm>
            <a:off x="40005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API-Schutz und CRUD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67829F-5AAC-4D92-9979-C8FB684672F1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Budgetliste ohne Authorization wird abgelehnt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Budget-Update wird persistiert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Budget-Delete entfernt den Eintrag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D7AB5B0-F582-42EE-A623-A193FD6EBB4F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Fachlogik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DBC205F-2C84-48B1-8545-B8F51EC15C0C}"/>
              </a:ext>
            </a:extLst>
          </p:cNvPr>
          <p:cNvSpPr>
            <a:spLocks noGrp="1"/>
          </p:cNvSpPr>
          <p:nvPr/>
        </p:nvSpPr>
        <p:spPr>
          <a:xfrm>
            <a:off x="628650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Transaktion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mit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Kategorie</a:t>
            </a:r>
            <a:r>
              <a:rPr sz="1350" b="0" dirty="0">
                <a:solidFill>
                  <a:srgbClr val="555555"/>
                </a:solidFill>
              </a:rPr>
              <a:t>-</a:t>
            </a:r>
            <a:r>
              <a:rPr sz="1350" b="0" dirty="0" err="1">
                <a:solidFill>
                  <a:srgbClr val="555555"/>
                </a:solidFill>
              </a:rPr>
              <a:t>Typ</a:t>
            </a:r>
            <a:r>
              <a:rPr sz="1350" b="0" dirty="0">
                <a:solidFill>
                  <a:srgbClr val="555555"/>
                </a:solidFill>
              </a:rPr>
              <a:t>-Mismatch </a:t>
            </a:r>
            <a:r>
              <a:rPr sz="1350" b="0" dirty="0" err="1">
                <a:solidFill>
                  <a:srgbClr val="555555"/>
                </a:solidFill>
              </a:rPr>
              <a:t>wird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abgelehnt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Dashboard </a:t>
            </a:r>
            <a:r>
              <a:rPr sz="1350" b="0" dirty="0" err="1">
                <a:solidFill>
                  <a:srgbClr val="555555"/>
                </a:solidFill>
              </a:rPr>
              <a:t>ber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 err="1">
                <a:solidFill>
                  <a:srgbClr val="555555"/>
                </a:solidFill>
              </a:rPr>
              <a:t>cksichtigt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nur</a:t>
            </a:r>
            <a:r>
              <a:rPr sz="1350" b="0" dirty="0">
                <a:solidFill>
                  <a:srgbClr val="555555"/>
                </a:solidFill>
              </a:rPr>
              <a:t> den </a:t>
            </a:r>
            <a:r>
              <a:rPr sz="1350" b="0" dirty="0" err="1">
                <a:solidFill>
                  <a:srgbClr val="555555"/>
                </a:solidFill>
              </a:rPr>
              <a:t>angefragten</a:t>
            </a:r>
            <a:r>
              <a:rPr sz="1350" b="0" dirty="0">
                <a:solidFill>
                  <a:srgbClr val="555555"/>
                </a:solidFill>
              </a:rPr>
              <a:t> Monat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Supertest</a:t>
            </a:r>
            <a:r>
              <a:rPr sz="1350" b="0" dirty="0">
                <a:solidFill>
                  <a:srgbClr val="555555"/>
                </a:solidFill>
              </a:rPr>
              <a:t> pr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ft </a:t>
            </a:r>
            <a:r>
              <a:rPr sz="1350" b="0" dirty="0" err="1">
                <a:solidFill>
                  <a:srgbClr val="555555"/>
                </a:solidFill>
              </a:rPr>
              <a:t>Statuscodes</a:t>
            </a:r>
            <a:r>
              <a:rPr sz="1350" b="0" dirty="0">
                <a:solidFill>
                  <a:srgbClr val="555555"/>
                </a:solidFill>
              </a:rPr>
              <a:t> und Response-</a:t>
            </a:r>
            <a:r>
              <a:rPr sz="1350" b="0" dirty="0" err="1">
                <a:solidFill>
                  <a:srgbClr val="555555"/>
                </a:solidFill>
              </a:rPr>
              <a:t>Daten</a:t>
            </a:r>
            <a:endParaRPr sz="13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458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F830029-48AE-530D-3765-8A3421D2A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3" y="1174543"/>
            <a:ext cx="12076453" cy="45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48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7C677A7B-1481-4EFC-8C94-EE11E696074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TESTS GERICHTE-APP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A3CB025-1F17-4C68-BC90-A2F0B25D6704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E2E-Szenarien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6DBE1E6-EE44-4537-9AE5-4741B3AC45DA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 dirty="0">
                <a:solidFill>
                  <a:srgbClr val="555555"/>
                </a:solidFill>
              </a:rPr>
              <a:t>In der </a:t>
            </a:r>
            <a:r>
              <a:rPr sz="1500" b="0" dirty="0" err="1">
                <a:solidFill>
                  <a:srgbClr val="555555"/>
                </a:solidFill>
              </a:rPr>
              <a:t>Testdoku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sind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sinnvolle</a:t>
            </a:r>
            <a:r>
              <a:rPr sz="1500" b="0" dirty="0">
                <a:solidFill>
                  <a:srgbClr val="555555"/>
                </a:solidFill>
              </a:rPr>
              <a:t> Browser-Flows f</a:t>
            </a:r>
            <a:r>
              <a:rPr lang="de-DE" sz="1500" b="0" dirty="0">
                <a:solidFill>
                  <a:srgbClr val="555555"/>
                </a:solidFill>
              </a:rPr>
              <a:t>ü</a:t>
            </a:r>
            <a:r>
              <a:rPr sz="1500" b="0" dirty="0">
                <a:solidFill>
                  <a:srgbClr val="555555"/>
                </a:solidFill>
              </a:rPr>
              <a:t>r die </a:t>
            </a:r>
            <a:r>
              <a:rPr sz="1500" b="0" dirty="0" err="1">
                <a:solidFill>
                  <a:srgbClr val="555555"/>
                </a:solidFill>
              </a:rPr>
              <a:t>Gerichte</a:t>
            </a:r>
            <a:r>
              <a:rPr sz="1500" b="0" dirty="0">
                <a:solidFill>
                  <a:srgbClr val="555555"/>
                </a:solidFill>
              </a:rPr>
              <a:t>-App </a:t>
            </a:r>
            <a:r>
              <a:rPr sz="1500" b="0" dirty="0" err="1">
                <a:solidFill>
                  <a:srgbClr val="555555"/>
                </a:solidFill>
              </a:rPr>
              <a:t>beschrieben</a:t>
            </a:r>
            <a:r>
              <a:rPr sz="150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E9D7F9B-360A-4B65-A6B1-566ECAA14386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8BFBEEB-58E7-4796-9249-FB98E64DFF68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2E2FE70-8E61-4235-A928-C8E845A6F6E4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38C4A4A-3619-480E-98A1-DD23FD61B74E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5143500" cy="285750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103590B-0165-4314-A13F-5D784B4560BB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76200" cy="28575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9C4F50D-A5C4-41CD-8B08-2405F9BD259E}"/>
              </a:ext>
            </a:extLst>
          </p:cNvPr>
          <p:cNvSpPr>
            <a:spLocks noGrp="1"/>
          </p:cNvSpPr>
          <p:nvPr/>
        </p:nvSpPr>
        <p:spPr>
          <a:xfrm>
            <a:off x="628650" y="2895600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DishesUser_ShouldRegisterCreateDishAndCookToday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E91C223-286B-46F4-80AB-15C12AFDB034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46863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lang="de-DE" sz="1350" b="0" dirty="0">
                <a:solidFill>
                  <a:srgbClr val="555555"/>
                </a:solidFill>
              </a:rPr>
              <a:t>P</a:t>
            </a:r>
            <a:r>
              <a:rPr sz="1350" b="0" dirty="0">
                <a:solidFill>
                  <a:srgbClr val="555555"/>
                </a:solidFill>
              </a:rPr>
              <a:t>r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fen, </a:t>
            </a:r>
            <a:r>
              <a:rPr sz="1350" b="0" dirty="0" err="1">
                <a:solidFill>
                  <a:srgbClr val="555555"/>
                </a:solidFill>
              </a:rPr>
              <a:t>ob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ein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Nutzer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sich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registriert</a:t>
            </a:r>
            <a:r>
              <a:rPr sz="1350" b="0" dirty="0">
                <a:solidFill>
                  <a:srgbClr val="555555"/>
                </a:solidFill>
              </a:rPr>
              <a:t>, </a:t>
            </a:r>
            <a:r>
              <a:rPr sz="1350" b="0" dirty="0" err="1">
                <a:solidFill>
                  <a:srgbClr val="555555"/>
                </a:solidFill>
              </a:rPr>
              <a:t>ein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Gericht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anlegt</a:t>
            </a:r>
            <a:r>
              <a:rPr sz="1350" b="0" dirty="0">
                <a:solidFill>
                  <a:srgbClr val="555555"/>
                </a:solidFill>
              </a:rPr>
              <a:t>, es </a:t>
            </a:r>
            <a:r>
              <a:rPr sz="1350" b="0" dirty="0" err="1">
                <a:solidFill>
                  <a:srgbClr val="555555"/>
                </a:solidFill>
              </a:rPr>
              <a:t>als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heute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gekocht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markiert</a:t>
            </a:r>
            <a:r>
              <a:rPr sz="1350" b="0" dirty="0">
                <a:solidFill>
                  <a:srgbClr val="555555"/>
                </a:solidFill>
              </a:rPr>
              <a:t> und den </a:t>
            </a:r>
            <a:r>
              <a:rPr sz="1350" b="0" dirty="0" err="1">
                <a:solidFill>
                  <a:srgbClr val="555555"/>
                </a:solidFill>
              </a:rPr>
              <a:t>Eintrag</a:t>
            </a:r>
            <a:r>
              <a:rPr sz="1350" b="0" dirty="0">
                <a:solidFill>
                  <a:srgbClr val="555555"/>
                </a:solidFill>
              </a:rPr>
              <a:t> in der Koch-</a:t>
            </a:r>
            <a:r>
              <a:rPr sz="1350" b="0" dirty="0" err="1">
                <a:solidFill>
                  <a:srgbClr val="555555"/>
                </a:solidFill>
              </a:rPr>
              <a:t>Historie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sieht</a:t>
            </a:r>
            <a:r>
              <a:rPr sz="135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8DA6211-6DBF-4B3A-92B8-4F544BB38C97}"/>
              </a:ext>
            </a:extLst>
          </p:cNvPr>
          <p:cNvSpPr>
            <a:spLocks noGrp="1"/>
          </p:cNvSpPr>
          <p:nvPr/>
        </p:nvSpPr>
        <p:spPr>
          <a:xfrm>
            <a:off x="6286500" y="2686050"/>
            <a:ext cx="5143500" cy="2857500"/>
          </a:xfrm>
          <a:prstGeom prst="rect">
            <a:avLst/>
          </a:prstGeom>
          <a:solidFill>
            <a:srgbClr val="EFEFEF"/>
          </a:solidFill>
          <a:ln w="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A434BD0-8B72-41DB-8D61-37705704E24B}"/>
              </a:ext>
            </a:extLst>
          </p:cNvPr>
          <p:cNvSpPr>
            <a:spLocks noGrp="1"/>
          </p:cNvSpPr>
          <p:nvPr/>
        </p:nvSpPr>
        <p:spPr>
          <a:xfrm>
            <a:off x="6286500" y="2686050"/>
            <a:ext cx="76200" cy="2857500"/>
          </a:xfrm>
          <a:prstGeom prst="rect">
            <a:avLst/>
          </a:prstGeom>
          <a:solidFill>
            <a:srgbClr val="1F7A4D"/>
          </a:solidFill>
          <a:ln w="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D191FFC-4BB6-44AE-A38F-EBB1DD1FB067}"/>
              </a:ext>
            </a:extLst>
          </p:cNvPr>
          <p:cNvSpPr>
            <a:spLocks noGrp="1"/>
          </p:cNvSpPr>
          <p:nvPr/>
        </p:nvSpPr>
        <p:spPr>
          <a:xfrm>
            <a:off x="6515100" y="2895600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DishesUser_ShouldCreateWeeklyMealPlanAndSeeCalendarEntries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69343FD-F173-4979-89EA-B10C4548C752}"/>
              </a:ext>
            </a:extLst>
          </p:cNvPr>
          <p:cNvSpPr>
            <a:spLocks noGrp="1"/>
          </p:cNvSpPr>
          <p:nvPr/>
        </p:nvSpPr>
        <p:spPr>
          <a:xfrm>
            <a:off x="6515100" y="3371850"/>
            <a:ext cx="46863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lang="de-DE" sz="1350" dirty="0">
                <a:solidFill>
                  <a:srgbClr val="555555"/>
                </a:solidFill>
              </a:rPr>
              <a:t>P</a:t>
            </a:r>
            <a:r>
              <a:rPr sz="1350" b="0" dirty="0">
                <a:solidFill>
                  <a:srgbClr val="555555"/>
                </a:solidFill>
              </a:rPr>
              <a:t>r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>
                <a:solidFill>
                  <a:srgbClr val="555555"/>
                </a:solidFill>
              </a:rPr>
              <a:t>fen, </a:t>
            </a:r>
            <a:r>
              <a:rPr sz="1350" b="0" dirty="0" err="1">
                <a:solidFill>
                  <a:srgbClr val="555555"/>
                </a:solidFill>
              </a:rPr>
              <a:t>ob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ein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Nutzer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Gerichte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einem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Wochenplan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zuordnet</a:t>
            </a:r>
            <a:r>
              <a:rPr sz="1350" b="0" dirty="0">
                <a:solidFill>
                  <a:srgbClr val="555555"/>
                </a:solidFill>
              </a:rPr>
              <a:t> und </a:t>
            </a:r>
            <a:r>
              <a:rPr sz="1350" b="0" dirty="0" err="1">
                <a:solidFill>
                  <a:srgbClr val="555555"/>
                </a:solidFill>
              </a:rPr>
              <a:t>diese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Planung</a:t>
            </a:r>
            <a:r>
              <a:rPr sz="1350" b="0" dirty="0">
                <a:solidFill>
                  <a:srgbClr val="555555"/>
                </a:solidFill>
              </a:rPr>
              <a:t> in Kalender- </a:t>
            </a:r>
            <a:r>
              <a:rPr sz="1350" b="0" dirty="0" err="1">
                <a:solidFill>
                  <a:srgbClr val="555555"/>
                </a:solidFill>
              </a:rPr>
              <a:t>oder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Wochenansicht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sichtbar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ist</a:t>
            </a:r>
            <a:r>
              <a:rPr sz="1350" b="0" dirty="0">
                <a:solidFill>
                  <a:srgbClr val="55555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5639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AEB4754-5F34-468D-80C3-F5FDFE3C50DF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TESTS BUDGET-APP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EB1E727-54C7-4E96-9F2F-68BB3F4791B4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E2E-Tests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6913D9C-5CA2-44F9-91EF-61C659277C6D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 dirty="0">
                <a:solidFill>
                  <a:srgbClr val="555555"/>
                </a:solidFill>
              </a:rPr>
              <a:t>Playwright pr</a:t>
            </a:r>
            <a:r>
              <a:rPr lang="de-DE" sz="1500" b="0" dirty="0">
                <a:solidFill>
                  <a:srgbClr val="555555"/>
                </a:solidFill>
              </a:rPr>
              <a:t>ü</a:t>
            </a:r>
            <a:r>
              <a:rPr sz="1500" b="0" dirty="0">
                <a:solidFill>
                  <a:srgbClr val="555555"/>
                </a:solidFill>
              </a:rPr>
              <a:t>ft </a:t>
            </a:r>
            <a:r>
              <a:rPr sz="1500" b="0" dirty="0" err="1">
                <a:solidFill>
                  <a:srgbClr val="555555"/>
                </a:solidFill>
              </a:rPr>
              <a:t>zentrale</a:t>
            </a:r>
            <a:r>
              <a:rPr sz="1500" b="0" dirty="0">
                <a:solidFill>
                  <a:srgbClr val="555555"/>
                </a:solidFill>
              </a:rPr>
              <a:t> </a:t>
            </a:r>
            <a:r>
              <a:rPr sz="1500" b="0" dirty="0" err="1">
                <a:solidFill>
                  <a:srgbClr val="555555"/>
                </a:solidFill>
              </a:rPr>
              <a:t>Nutzerablaeufe</a:t>
            </a:r>
            <a:r>
              <a:rPr sz="1500" b="0" dirty="0">
                <a:solidFill>
                  <a:srgbClr val="555555"/>
                </a:solidFill>
              </a:rPr>
              <a:t> der Budget-App </a:t>
            </a:r>
            <a:r>
              <a:rPr sz="1500" b="0" dirty="0" err="1">
                <a:solidFill>
                  <a:srgbClr val="555555"/>
                </a:solidFill>
              </a:rPr>
              <a:t>im</a:t>
            </a:r>
            <a:r>
              <a:rPr sz="1500" b="0" dirty="0">
                <a:solidFill>
                  <a:srgbClr val="555555"/>
                </a:solidFill>
              </a:rPr>
              <a:t> Browser.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9F36228-CC25-4CD4-B5EC-536865144078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2E1D4A6-6FE3-4823-BF98-CD6E9B41CA05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6FC59C5-4FF1-415D-83DE-2EC7E5E4AD1F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243DAF7-025D-4152-90D7-BAE1452BA079}"/>
              </a:ext>
            </a:extLst>
          </p:cNvPr>
          <p:cNvSpPr>
            <a:spLocks noGrp="1"/>
          </p:cNvSpPr>
          <p:nvPr/>
        </p:nvSpPr>
        <p:spPr>
          <a:xfrm>
            <a:off x="40005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Implementierte Flows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D61144A-637D-43FF-9416-065BE19F18F4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userCanRegisterLoginAndCreateBudget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userCanCreateCategoryAndTransaction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userCanSeeUpdatedRemainingBudgetOnDashboard</a:t>
            </a: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userCannotAccessDashboardWithoutLogin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BC8C405-780E-4F89-A39E-41A6CEB18B5C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Gepruefter Nutzen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E1551E0-F4FE-41A3-8200-A39CD6277363}"/>
              </a:ext>
            </a:extLst>
          </p:cNvPr>
          <p:cNvSpPr>
            <a:spLocks noGrp="1"/>
          </p:cNvSpPr>
          <p:nvPr/>
        </p:nvSpPr>
        <p:spPr>
          <a:xfrm>
            <a:off x="6286500" y="31051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Registrierung</a:t>
            </a:r>
            <a:r>
              <a:rPr sz="1350" b="0" dirty="0">
                <a:solidFill>
                  <a:srgbClr val="555555"/>
                </a:solidFill>
              </a:rPr>
              <a:t> und Login </a:t>
            </a:r>
            <a:r>
              <a:rPr sz="1350" b="0" dirty="0" err="1">
                <a:solidFill>
                  <a:srgbClr val="555555"/>
                </a:solidFill>
              </a:rPr>
              <a:t>funktionieren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Budget-, </a:t>
            </a:r>
            <a:r>
              <a:rPr sz="1350" b="0" dirty="0" err="1">
                <a:solidFill>
                  <a:srgbClr val="555555"/>
                </a:solidFill>
              </a:rPr>
              <a:t>Kategorie</a:t>
            </a:r>
            <a:r>
              <a:rPr sz="1350" b="0" dirty="0">
                <a:solidFill>
                  <a:srgbClr val="555555"/>
                </a:solidFill>
              </a:rPr>
              <a:t>- und </a:t>
            </a:r>
            <a:r>
              <a:rPr sz="1350" b="0" dirty="0" err="1">
                <a:solidFill>
                  <a:srgbClr val="555555"/>
                </a:solidFill>
              </a:rPr>
              <a:t>Transaktionsformulare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liefern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sichtbare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Ergebnisse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Dashboard </a:t>
            </a:r>
            <a:r>
              <a:rPr sz="1350" b="0" dirty="0" err="1">
                <a:solidFill>
                  <a:srgbClr val="555555"/>
                </a:solidFill>
              </a:rPr>
              <a:t>zeigt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aktualisiertes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Restbudget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Gesch</a:t>
            </a:r>
            <a:r>
              <a:rPr lang="de-DE" sz="1350" b="0" dirty="0">
                <a:solidFill>
                  <a:srgbClr val="555555"/>
                </a:solidFill>
              </a:rPr>
              <a:t>ü</a:t>
            </a:r>
            <a:r>
              <a:rPr sz="1350" b="0" dirty="0" err="1">
                <a:solidFill>
                  <a:srgbClr val="555555"/>
                </a:solidFill>
              </a:rPr>
              <a:t>tzte</a:t>
            </a:r>
            <a:r>
              <a:rPr sz="1350" b="0" dirty="0">
                <a:solidFill>
                  <a:srgbClr val="555555"/>
                </a:solidFill>
              </a:rPr>
              <a:t> Route </a:t>
            </a:r>
            <a:r>
              <a:rPr sz="1350" b="0" dirty="0" err="1">
                <a:solidFill>
                  <a:srgbClr val="555555"/>
                </a:solidFill>
              </a:rPr>
              <a:t>leitet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ohne</a:t>
            </a:r>
            <a:r>
              <a:rPr sz="1350" b="0" dirty="0">
                <a:solidFill>
                  <a:srgbClr val="555555"/>
                </a:solidFill>
              </a:rPr>
              <a:t> Login </a:t>
            </a:r>
            <a:r>
              <a:rPr sz="1350" b="0" dirty="0" err="1">
                <a:solidFill>
                  <a:srgbClr val="555555"/>
                </a:solidFill>
              </a:rPr>
              <a:t>zur</a:t>
            </a:r>
            <a:r>
              <a:rPr sz="1350" b="0" dirty="0">
                <a:solidFill>
                  <a:srgbClr val="555555"/>
                </a:solidFill>
              </a:rPr>
              <a:t> </a:t>
            </a:r>
            <a:r>
              <a:rPr sz="1350" b="0" dirty="0" err="1">
                <a:solidFill>
                  <a:srgbClr val="555555"/>
                </a:solidFill>
              </a:rPr>
              <a:t>Anmeldung</a:t>
            </a:r>
            <a:endParaRPr sz="13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196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AC4C491-7E2E-3F28-514D-672554D13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85" y="0"/>
            <a:ext cx="6988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57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64D1F63A-6AE9-4616-8600-8913F0266634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TESTS GERICHTE-APP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F800411-20B4-4392-BBE9-CA5E097433DE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Loadtest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30B2E35-34AA-49A5-B0BB-3DE2E8EA574A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Der dokumentierte Loadtest fokussiert die Auslieferung der Frontend-Seiten.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C95D076-516B-462E-A0A9-90E5456431FD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A925BD2-FC9F-4B01-9C5D-46E228EEAEFB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46F60AE-712D-4D60-BB70-0C2B2B0822EE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A4CE1B6-B95A-4856-AFB6-E5C4A3D51EED}"/>
              </a:ext>
            </a:extLst>
          </p:cNvPr>
          <p:cNvSpPr>
            <a:spLocks noGrp="1"/>
          </p:cNvSpPr>
          <p:nvPr/>
        </p:nvSpPr>
        <p:spPr>
          <a:xfrm>
            <a:off x="400050" y="2781300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750" b="1">
                <a:solidFill>
                  <a:srgbClr val="FF6B35"/>
                </a:solidFill>
              </a:defRPr>
            </a:pPr>
            <a:r>
              <a:rPr sz="3750" b="1">
                <a:solidFill>
                  <a:srgbClr val="FF6B35"/>
                </a:solidFill>
              </a:rPr>
              <a:t>k6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6BA1D64-399A-4142-82A5-EB8AF6C841E9}"/>
              </a:ext>
            </a:extLst>
          </p:cNvPr>
          <p:cNvSpPr>
            <a:spLocks noGrp="1"/>
          </p:cNvSpPr>
          <p:nvPr/>
        </p:nvSpPr>
        <p:spPr>
          <a:xfrm>
            <a:off x="400050" y="34861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Werkzeug fuer Lasttests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4A15B38-3E52-4701-A93D-7F821DB65CF8}"/>
              </a:ext>
            </a:extLst>
          </p:cNvPr>
          <p:cNvSpPr>
            <a:spLocks noGrp="1"/>
          </p:cNvSpPr>
          <p:nvPr/>
        </p:nvSpPr>
        <p:spPr>
          <a:xfrm>
            <a:off x="3562350" y="2781300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750" b="1">
                <a:solidFill>
                  <a:srgbClr val="2457A6"/>
                </a:solidFill>
              </a:defRPr>
            </a:pPr>
            <a:r>
              <a:rPr sz="3750" b="1">
                <a:solidFill>
                  <a:srgbClr val="2457A6"/>
                </a:solidFill>
              </a:rPr>
              <a:t>Vite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4BE8AC1-1B31-46CE-BA91-A4F63976EC08}"/>
              </a:ext>
            </a:extLst>
          </p:cNvPr>
          <p:cNvSpPr>
            <a:spLocks noGrp="1"/>
          </p:cNvSpPr>
          <p:nvPr/>
        </p:nvSpPr>
        <p:spPr>
          <a:xfrm>
            <a:off x="3562350" y="34861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Startseite und Gerichte-Route als Ziel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6719413-88AF-4DFE-AEA7-0CA4D7BDF458}"/>
              </a:ext>
            </a:extLst>
          </p:cNvPr>
          <p:cNvSpPr>
            <a:spLocks noGrp="1"/>
          </p:cNvSpPr>
          <p:nvPr/>
        </p:nvSpPr>
        <p:spPr>
          <a:xfrm>
            <a:off x="400050" y="4648200"/>
            <a:ext cx="1028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 dirty="0" err="1">
                <a:solidFill>
                  <a:srgbClr val="555555"/>
                </a:solidFill>
              </a:rPr>
              <a:t>DishesAppLoadTest</a:t>
            </a:r>
            <a:r>
              <a:rPr sz="1650" b="0" dirty="0">
                <a:solidFill>
                  <a:srgbClr val="555555"/>
                </a:solidFill>
              </a:rPr>
              <a:t> f</a:t>
            </a:r>
            <a:r>
              <a:rPr lang="de-DE" sz="1650" b="0" dirty="0">
                <a:solidFill>
                  <a:srgbClr val="555555"/>
                </a:solidFill>
              </a:rPr>
              <a:t>ü</a:t>
            </a:r>
            <a:r>
              <a:rPr sz="1650" b="0" dirty="0" err="1">
                <a:solidFill>
                  <a:srgbClr val="555555"/>
                </a:solidFill>
              </a:rPr>
              <a:t>hrt</a:t>
            </a:r>
            <a:r>
              <a:rPr sz="1650" b="0" dirty="0">
                <a:solidFill>
                  <a:srgbClr val="555555"/>
                </a:solidFill>
              </a:rPr>
              <a:t> </a:t>
            </a:r>
            <a:r>
              <a:rPr sz="1650" b="0" dirty="0" err="1">
                <a:solidFill>
                  <a:srgbClr val="555555"/>
                </a:solidFill>
              </a:rPr>
              <a:t>wiederholt</a:t>
            </a:r>
            <a:r>
              <a:rPr sz="1650" b="0" dirty="0">
                <a:solidFill>
                  <a:srgbClr val="555555"/>
                </a:solidFill>
              </a:rPr>
              <a:t> HTTP-</a:t>
            </a:r>
            <a:r>
              <a:rPr sz="1650" b="0" dirty="0" err="1">
                <a:solidFill>
                  <a:srgbClr val="555555"/>
                </a:solidFill>
              </a:rPr>
              <a:t>Aufrufe</a:t>
            </a:r>
            <a:r>
              <a:rPr sz="1650" b="0" dirty="0">
                <a:solidFill>
                  <a:srgbClr val="555555"/>
                </a:solidFill>
              </a:rPr>
              <a:t> </a:t>
            </a:r>
            <a:r>
              <a:rPr sz="1650" b="0" dirty="0" err="1">
                <a:solidFill>
                  <a:srgbClr val="555555"/>
                </a:solidFill>
              </a:rPr>
              <a:t>gegen</a:t>
            </a:r>
            <a:r>
              <a:rPr sz="1650" b="0" dirty="0">
                <a:solidFill>
                  <a:srgbClr val="555555"/>
                </a:solidFill>
              </a:rPr>
              <a:t> die </a:t>
            </a:r>
            <a:r>
              <a:rPr sz="1650" b="0" dirty="0" err="1">
                <a:solidFill>
                  <a:srgbClr val="555555"/>
                </a:solidFill>
              </a:rPr>
              <a:t>Startseite</a:t>
            </a:r>
            <a:r>
              <a:rPr sz="1650" b="0" dirty="0">
                <a:solidFill>
                  <a:srgbClr val="555555"/>
                </a:solidFill>
              </a:rPr>
              <a:t> und die </a:t>
            </a:r>
            <a:r>
              <a:rPr sz="1650" b="0" dirty="0" err="1">
                <a:solidFill>
                  <a:srgbClr val="555555"/>
                </a:solidFill>
              </a:rPr>
              <a:t>Gerichte</a:t>
            </a:r>
            <a:r>
              <a:rPr sz="1650" b="0" dirty="0">
                <a:solidFill>
                  <a:srgbClr val="555555"/>
                </a:solidFill>
              </a:rPr>
              <a:t>-Route </a:t>
            </a:r>
            <a:r>
              <a:rPr sz="1650" b="0" dirty="0" err="1">
                <a:solidFill>
                  <a:srgbClr val="555555"/>
                </a:solidFill>
              </a:rPr>
              <a:t>aus.</a:t>
            </a:r>
            <a:r>
              <a:rPr sz="1650" b="0" dirty="0">
                <a:solidFill>
                  <a:srgbClr val="555555"/>
                </a:solidFill>
              </a:rPr>
              <a:t> Ziel </a:t>
            </a:r>
            <a:r>
              <a:rPr sz="1650" b="0" dirty="0" err="1">
                <a:solidFill>
                  <a:srgbClr val="555555"/>
                </a:solidFill>
              </a:rPr>
              <a:t>ist</a:t>
            </a:r>
            <a:r>
              <a:rPr sz="1650" b="0" dirty="0">
                <a:solidFill>
                  <a:srgbClr val="555555"/>
                </a:solidFill>
              </a:rPr>
              <a:t> </a:t>
            </a:r>
            <a:r>
              <a:rPr sz="1650" b="0" dirty="0" err="1">
                <a:solidFill>
                  <a:srgbClr val="555555"/>
                </a:solidFill>
              </a:rPr>
              <a:t>zu</a:t>
            </a:r>
            <a:r>
              <a:rPr sz="1650" b="0" dirty="0">
                <a:solidFill>
                  <a:srgbClr val="555555"/>
                </a:solidFill>
              </a:rPr>
              <a:t> pr</a:t>
            </a:r>
            <a:r>
              <a:rPr lang="de-DE" sz="1650" b="0" dirty="0">
                <a:solidFill>
                  <a:srgbClr val="555555"/>
                </a:solidFill>
              </a:rPr>
              <a:t>ü</a:t>
            </a:r>
            <a:r>
              <a:rPr sz="1650" b="0" dirty="0">
                <a:solidFill>
                  <a:srgbClr val="555555"/>
                </a:solidFill>
              </a:rPr>
              <a:t>fen, </a:t>
            </a:r>
            <a:r>
              <a:rPr sz="1650" b="0" dirty="0" err="1">
                <a:solidFill>
                  <a:srgbClr val="555555"/>
                </a:solidFill>
              </a:rPr>
              <a:t>ob</a:t>
            </a:r>
            <a:r>
              <a:rPr sz="1650" b="0" dirty="0">
                <a:solidFill>
                  <a:srgbClr val="555555"/>
                </a:solidFill>
              </a:rPr>
              <a:t> die </a:t>
            </a:r>
            <a:r>
              <a:rPr sz="1650" b="0" dirty="0" err="1">
                <a:solidFill>
                  <a:srgbClr val="555555"/>
                </a:solidFill>
              </a:rPr>
              <a:t>clientseitige</a:t>
            </a:r>
            <a:r>
              <a:rPr sz="1650" b="0" dirty="0">
                <a:solidFill>
                  <a:srgbClr val="555555"/>
                </a:solidFill>
              </a:rPr>
              <a:t> App </a:t>
            </a:r>
            <a:r>
              <a:rPr sz="1650" b="0" dirty="0" err="1">
                <a:solidFill>
                  <a:srgbClr val="555555"/>
                </a:solidFill>
              </a:rPr>
              <a:t>unter</a:t>
            </a:r>
            <a:r>
              <a:rPr sz="1650" b="0" dirty="0">
                <a:solidFill>
                  <a:srgbClr val="555555"/>
                </a:solidFill>
              </a:rPr>
              <a:t> </a:t>
            </a:r>
            <a:r>
              <a:rPr sz="1650" b="0" dirty="0" err="1">
                <a:solidFill>
                  <a:srgbClr val="555555"/>
                </a:solidFill>
              </a:rPr>
              <a:t>paralleler</a:t>
            </a:r>
            <a:r>
              <a:rPr sz="1650" b="0" dirty="0">
                <a:solidFill>
                  <a:srgbClr val="555555"/>
                </a:solidFill>
              </a:rPr>
              <a:t> Last </a:t>
            </a:r>
            <a:r>
              <a:rPr sz="1650" b="0" dirty="0" err="1">
                <a:solidFill>
                  <a:srgbClr val="555555"/>
                </a:solidFill>
              </a:rPr>
              <a:t>stabil</a:t>
            </a:r>
            <a:r>
              <a:rPr sz="1650" b="0" dirty="0">
                <a:solidFill>
                  <a:srgbClr val="555555"/>
                </a:solidFill>
              </a:rPr>
              <a:t> </a:t>
            </a:r>
            <a:r>
              <a:rPr sz="1650" b="0" dirty="0" err="1">
                <a:solidFill>
                  <a:srgbClr val="555555"/>
                </a:solidFill>
              </a:rPr>
              <a:t>ausgeliefert</a:t>
            </a:r>
            <a:r>
              <a:rPr sz="1650" b="0" dirty="0">
                <a:solidFill>
                  <a:srgbClr val="555555"/>
                </a:solidFill>
              </a:rPr>
              <a:t> </a:t>
            </a:r>
            <a:r>
              <a:rPr sz="1650" b="0" dirty="0" err="1">
                <a:solidFill>
                  <a:srgbClr val="555555"/>
                </a:solidFill>
              </a:rPr>
              <a:t>wird</a:t>
            </a:r>
            <a:r>
              <a:rPr sz="1650" b="0" dirty="0">
                <a:solidFill>
                  <a:srgbClr val="55555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7317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EECBEC5-BFDD-493C-86AC-43E784BA92A1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TESTS BUDGET-APP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CF9F436-900D-4841-B3E7-71BE8039BBAB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8001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Loadtest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714FD10-2FA4-440E-AFE4-DE46D08E8594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Der k6-Test erzeugt authentifizierte Last auf der Budget-API.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E6EA102-9501-4098-8FE5-CB5E4F0E0047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4064763-864B-48DD-9AAC-3D154A7BFCDB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LifeApp Projekt- und Testuebersicht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0CB9BCF-8B62-46E5-80C5-95FCAF7B1ABD}"/>
              </a:ext>
            </a:extLst>
          </p:cNvPr>
          <p:cNvSpPr>
            <a:spLocks noGrp="1"/>
          </p:cNvSpPr>
          <p:nvPr/>
        </p:nvSpPr>
        <p:spPr>
          <a:xfrm>
            <a:off x="11201400" y="63055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09D3F83-D8AD-4A60-AD64-00BA51BD81FC}"/>
              </a:ext>
            </a:extLst>
          </p:cNvPr>
          <p:cNvSpPr>
            <a:spLocks noGrp="1"/>
          </p:cNvSpPr>
          <p:nvPr/>
        </p:nvSpPr>
        <p:spPr>
          <a:xfrm>
            <a:off x="400050" y="2781300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750" b="1">
                <a:solidFill>
                  <a:srgbClr val="FF6B35"/>
                </a:solidFill>
              </a:defRPr>
            </a:pPr>
            <a:r>
              <a:rPr sz="3750" b="1">
                <a:solidFill>
                  <a:srgbClr val="FF6B35"/>
                </a:solidFill>
              </a:rPr>
              <a:t>20 VUs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EAC68FB-2CDB-46A1-8F0B-54B553C2B3EB}"/>
              </a:ext>
            </a:extLst>
          </p:cNvPr>
          <p:cNvSpPr>
            <a:spLocks noGrp="1"/>
          </p:cNvSpPr>
          <p:nvPr/>
        </p:nvSpPr>
        <p:spPr>
          <a:xfrm>
            <a:off x="400050" y="34861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Parallele virtuelle Nutzer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23F35C7-2734-4908-93D2-848EF0ED3953}"/>
              </a:ext>
            </a:extLst>
          </p:cNvPr>
          <p:cNvSpPr>
            <a:spLocks noGrp="1"/>
          </p:cNvSpPr>
          <p:nvPr/>
        </p:nvSpPr>
        <p:spPr>
          <a:xfrm>
            <a:off x="3562350" y="2781300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750" b="1">
                <a:solidFill>
                  <a:srgbClr val="2457A6"/>
                </a:solidFill>
              </a:defRPr>
            </a:pPr>
            <a:r>
              <a:rPr sz="3750" b="1">
                <a:solidFill>
                  <a:srgbClr val="2457A6"/>
                </a:solidFill>
              </a:rPr>
              <a:t>1 min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667A44D-F831-49A1-B5B8-FD942791C6B6}"/>
              </a:ext>
            </a:extLst>
          </p:cNvPr>
          <p:cNvSpPr>
            <a:spLocks noGrp="1"/>
          </p:cNvSpPr>
          <p:nvPr/>
        </p:nvSpPr>
        <p:spPr>
          <a:xfrm>
            <a:off x="3562350" y="34861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Testdauer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CD28309-B402-4F9B-B3C1-0781790549CB}"/>
              </a:ext>
            </a:extLst>
          </p:cNvPr>
          <p:cNvSpPr>
            <a:spLocks noGrp="1"/>
          </p:cNvSpPr>
          <p:nvPr/>
        </p:nvSpPr>
        <p:spPr>
          <a:xfrm>
            <a:off x="6724650" y="2781300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750" b="1">
                <a:solidFill>
                  <a:srgbClr val="1F7A4D"/>
                </a:solidFill>
              </a:defRPr>
            </a:pPr>
            <a:r>
              <a:rPr sz="3750" b="1">
                <a:solidFill>
                  <a:srgbClr val="1F7A4D"/>
                </a:solidFill>
              </a:rPr>
              <a:t>p95 &lt; 500 ms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55D6589-CCD3-4F04-8511-54876EA4DE07}"/>
              </a:ext>
            </a:extLst>
          </p:cNvPr>
          <p:cNvSpPr>
            <a:spLocks noGrp="1"/>
          </p:cNvSpPr>
          <p:nvPr/>
        </p:nvSpPr>
        <p:spPr>
          <a:xfrm>
            <a:off x="6724650" y="34861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Antwortzeit-Schwelle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0369A2-E7DB-493C-B333-B51F53B47EC1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BudgetAppLoadTest registriert und loggt Nutzer ein, erstellt Kategorien und Transaktionen und ruft Dashboard sowie Transaktionsliste auf. Die Fehlerrate soll unter 5 Prozent bleiben.</a:t>
            </a:r>
          </a:p>
        </p:txBody>
      </p:sp>
    </p:spTree>
    <p:extLst>
      <p:ext uri="{BB962C8B-B14F-4D97-AF65-F5344CB8AC3E}">
        <p14:creationId xmlns:p14="http://schemas.microsoft.com/office/powerpoint/2010/main" val="904344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F0424E8-C17A-5F48-8E21-70E7C5534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003" y="0"/>
            <a:ext cx="64159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51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7CE8DAD-D940-D7E4-D72F-AC8C24F5A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61" y="2004383"/>
            <a:ext cx="11208078" cy="284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944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</Words>
  <Application>Microsoft Office PowerPoint</Application>
  <DocSecurity>0</DocSecurity>
  <PresentationFormat>Breitbild</PresentationFormat>
  <Paragraphs>173</Paragraphs>
  <Slides>22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Doeberl Felix - s2410307007</cp:lastModifiedBy>
  <cp:revision>4</cp:revision>
  <dcterms:created xsi:type="dcterms:W3CDTF">2026-06-25T17:34:32Z</dcterms:created>
  <dcterms:modified xsi:type="dcterms:W3CDTF">2026-06-26T11:41:55Z</dcterms:modified>
</cp:coreProperties>
</file>